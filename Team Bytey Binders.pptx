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4"/>
  </p:notesMasterIdLst>
  <p:sldIdLst>
    <p:sldId id="256" r:id="rId2"/>
    <p:sldId id="257" r:id="rId3"/>
    <p:sldId id="291" r:id="rId4"/>
    <p:sldId id="292" r:id="rId5"/>
    <p:sldId id="293" r:id="rId6"/>
    <p:sldId id="258" r:id="rId7"/>
    <p:sldId id="259" r:id="rId8"/>
    <p:sldId id="288" r:id="rId9"/>
    <p:sldId id="289" r:id="rId10"/>
    <p:sldId id="298" r:id="rId11"/>
    <p:sldId id="294" r:id="rId12"/>
    <p:sldId id="299" r:id="rId13"/>
    <p:sldId id="300" r:id="rId14"/>
    <p:sldId id="301" r:id="rId15"/>
    <p:sldId id="302" r:id="rId16"/>
    <p:sldId id="303" r:id="rId17"/>
    <p:sldId id="295" r:id="rId18"/>
    <p:sldId id="296" r:id="rId19"/>
    <p:sldId id="282" r:id="rId20"/>
    <p:sldId id="283" r:id="rId21"/>
    <p:sldId id="297" r:id="rId22"/>
    <p:sldId id="287" r:id="rId23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5"/>
      <p:bold r:id="rId26"/>
      <p:italic r:id="rId27"/>
      <p:boldItalic r:id="rId28"/>
    </p:embeddedFont>
    <p:embeddedFont>
      <p:font typeface="Garamond" panose="02020404030301010803" pitchFamily="18" charset="0"/>
      <p:regular r:id="rId29"/>
      <p:bold r:id="rId30"/>
      <p:italic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783" autoAdjust="0"/>
  </p:normalViewPr>
  <p:slideViewPr>
    <p:cSldViewPr snapToGrid="0">
      <p:cViewPr varScale="1">
        <p:scale>
          <a:sx n="103" d="100"/>
          <a:sy n="103" d="100"/>
        </p:scale>
        <p:origin x="874" y="-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C51807-0AF5-4B38-BE9B-B460C38D48BD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EBE95E7-12EF-41D5-8792-019AC23DD790}">
      <dgm:prSet/>
      <dgm:spPr/>
      <dgm:t>
        <a:bodyPr/>
        <a:lstStyle/>
        <a:p>
          <a:r>
            <a:rPr lang="en-US" b="1"/>
            <a:t>Admin: </a:t>
          </a:r>
          <a:endParaRPr lang="en-IN"/>
        </a:p>
      </dgm:t>
    </dgm:pt>
    <dgm:pt modelId="{708238A2-119A-4B78-8D2C-849BDB1EC460}" type="parTrans" cxnId="{CFA6D156-2C72-4308-BBC5-D87BC4F7E473}">
      <dgm:prSet/>
      <dgm:spPr/>
      <dgm:t>
        <a:bodyPr/>
        <a:lstStyle/>
        <a:p>
          <a:endParaRPr lang="en-IN"/>
        </a:p>
      </dgm:t>
    </dgm:pt>
    <dgm:pt modelId="{C342D403-484D-46AE-9A8E-FD53788177A2}" type="sibTrans" cxnId="{CFA6D156-2C72-4308-BBC5-D87BC4F7E473}">
      <dgm:prSet/>
      <dgm:spPr/>
      <dgm:t>
        <a:bodyPr/>
        <a:lstStyle/>
        <a:p>
          <a:endParaRPr lang="en-IN"/>
        </a:p>
      </dgm:t>
    </dgm:pt>
    <dgm:pt modelId="{C0049F0C-355C-4C4D-ACF5-B7D0E083DF02}">
      <dgm:prSet/>
      <dgm:spPr/>
      <dgm:t>
        <a:bodyPr/>
        <a:lstStyle/>
        <a:p>
          <a:r>
            <a:rPr lang="en-US"/>
            <a:t>Has full access to all system functionalities and data, including inventory management, customer transactions, employee scheduling, and reporting.</a:t>
          </a:r>
          <a:endParaRPr lang="en-IN"/>
        </a:p>
      </dgm:t>
    </dgm:pt>
    <dgm:pt modelId="{E6D346C0-2BF9-47CF-9FA1-19641868DE0E}" type="parTrans" cxnId="{2AF5BFF4-EC46-4547-A7AD-93E241CF3A32}">
      <dgm:prSet/>
      <dgm:spPr/>
      <dgm:t>
        <a:bodyPr/>
        <a:lstStyle/>
        <a:p>
          <a:endParaRPr lang="en-IN"/>
        </a:p>
      </dgm:t>
    </dgm:pt>
    <dgm:pt modelId="{C6F865F9-67FF-4D28-91ED-F596B5111011}" type="sibTrans" cxnId="{2AF5BFF4-EC46-4547-A7AD-93E241CF3A32}">
      <dgm:prSet/>
      <dgm:spPr/>
      <dgm:t>
        <a:bodyPr/>
        <a:lstStyle/>
        <a:p>
          <a:endParaRPr lang="en-IN"/>
        </a:p>
      </dgm:t>
    </dgm:pt>
    <dgm:pt modelId="{B74C757A-DAC9-4D6A-9D0B-EEFC7C638984}">
      <dgm:prSet/>
      <dgm:spPr/>
      <dgm:t>
        <a:bodyPr/>
        <a:lstStyle/>
        <a:p>
          <a:r>
            <a:rPr lang="en-US" b="1"/>
            <a:t>Cashier: </a:t>
          </a:r>
          <a:endParaRPr lang="en-IN"/>
        </a:p>
      </dgm:t>
    </dgm:pt>
    <dgm:pt modelId="{0B082470-DB45-443B-B4E4-3D6C9CB81AC4}" type="parTrans" cxnId="{C5B6EFCC-F9E4-4488-A687-06EAB24DEC0A}">
      <dgm:prSet/>
      <dgm:spPr/>
      <dgm:t>
        <a:bodyPr/>
        <a:lstStyle/>
        <a:p>
          <a:endParaRPr lang="en-IN"/>
        </a:p>
      </dgm:t>
    </dgm:pt>
    <dgm:pt modelId="{F855833B-A14A-4B15-B3DC-838BB342D46F}" type="sibTrans" cxnId="{C5B6EFCC-F9E4-4488-A687-06EAB24DEC0A}">
      <dgm:prSet/>
      <dgm:spPr/>
      <dgm:t>
        <a:bodyPr/>
        <a:lstStyle/>
        <a:p>
          <a:endParaRPr lang="en-IN"/>
        </a:p>
      </dgm:t>
    </dgm:pt>
    <dgm:pt modelId="{ECCDA5F8-F990-464A-AF92-6193266FA030}">
      <dgm:prSet/>
      <dgm:spPr/>
      <dgm:t>
        <a:bodyPr/>
        <a:lstStyle/>
        <a:p>
          <a:r>
            <a:rPr lang="en-US"/>
            <a:t>Responsible for processing customer transactions, generating bills, and handling payments. Has limited access to customer data and inventory management functionalities.</a:t>
          </a:r>
          <a:endParaRPr lang="en-IN"/>
        </a:p>
      </dgm:t>
    </dgm:pt>
    <dgm:pt modelId="{56717AE5-829D-4C3C-9C89-7F5DCAFE12CD}" type="parTrans" cxnId="{E9BEB694-06CA-4E10-84E6-B14BD72AFE75}">
      <dgm:prSet/>
      <dgm:spPr/>
      <dgm:t>
        <a:bodyPr/>
        <a:lstStyle/>
        <a:p>
          <a:endParaRPr lang="en-IN"/>
        </a:p>
      </dgm:t>
    </dgm:pt>
    <dgm:pt modelId="{5A7F4BDB-1C47-4F05-BAEB-A2CD2154650C}" type="sibTrans" cxnId="{E9BEB694-06CA-4E10-84E6-B14BD72AFE75}">
      <dgm:prSet/>
      <dgm:spPr/>
      <dgm:t>
        <a:bodyPr/>
        <a:lstStyle/>
        <a:p>
          <a:endParaRPr lang="en-IN"/>
        </a:p>
      </dgm:t>
    </dgm:pt>
    <dgm:pt modelId="{2BB0AB8C-8A55-49FA-9D70-BCC293F058E5}">
      <dgm:prSet/>
      <dgm:spPr/>
      <dgm:t>
        <a:bodyPr/>
        <a:lstStyle/>
        <a:p>
          <a:r>
            <a:rPr lang="en-US" b="1"/>
            <a:t>Inventory Manager: </a:t>
          </a:r>
          <a:endParaRPr lang="en-IN"/>
        </a:p>
      </dgm:t>
    </dgm:pt>
    <dgm:pt modelId="{F053BC41-399B-4EB0-8B39-139DC3B7F669}" type="parTrans" cxnId="{5BB10EB9-F085-4CDC-9994-1B6EA6C16584}">
      <dgm:prSet/>
      <dgm:spPr/>
      <dgm:t>
        <a:bodyPr/>
        <a:lstStyle/>
        <a:p>
          <a:endParaRPr lang="en-IN"/>
        </a:p>
      </dgm:t>
    </dgm:pt>
    <dgm:pt modelId="{BC2B324B-C3E2-44C8-8A05-415D53B424E5}" type="sibTrans" cxnId="{5BB10EB9-F085-4CDC-9994-1B6EA6C16584}">
      <dgm:prSet/>
      <dgm:spPr/>
      <dgm:t>
        <a:bodyPr/>
        <a:lstStyle/>
        <a:p>
          <a:endParaRPr lang="en-IN"/>
        </a:p>
      </dgm:t>
    </dgm:pt>
    <dgm:pt modelId="{C43F9E6C-0237-465B-8346-5BEF52072266}">
      <dgm:prSet/>
      <dgm:spPr/>
      <dgm:t>
        <a:bodyPr/>
        <a:lstStyle/>
        <a:p>
          <a:r>
            <a:rPr lang="en-US"/>
            <a:t>Manages inventory-related tasks, including stock replenishment, inventory tracking, and receiving notifications about low stock levels. Has restricted access to customer data and billing information.</a:t>
          </a:r>
          <a:endParaRPr lang="en-IN"/>
        </a:p>
      </dgm:t>
    </dgm:pt>
    <dgm:pt modelId="{411F45D4-1EF4-492A-9D26-E23F25F867D0}" type="parTrans" cxnId="{EC2470E3-26E0-47E4-BEF0-0586B12143EE}">
      <dgm:prSet/>
      <dgm:spPr/>
      <dgm:t>
        <a:bodyPr/>
        <a:lstStyle/>
        <a:p>
          <a:endParaRPr lang="en-IN"/>
        </a:p>
      </dgm:t>
    </dgm:pt>
    <dgm:pt modelId="{00715698-7475-44D8-85B6-940FA23CAC0C}" type="sibTrans" cxnId="{EC2470E3-26E0-47E4-BEF0-0586B12143EE}">
      <dgm:prSet/>
      <dgm:spPr/>
      <dgm:t>
        <a:bodyPr/>
        <a:lstStyle/>
        <a:p>
          <a:endParaRPr lang="en-IN"/>
        </a:p>
      </dgm:t>
    </dgm:pt>
    <dgm:pt modelId="{0B42B324-94A8-4700-99EB-668DAAFAAABD}" type="pres">
      <dgm:prSet presAssocID="{60C51807-0AF5-4B38-BE9B-B460C38D48BD}" presName="diagram" presStyleCnt="0">
        <dgm:presLayoutVars>
          <dgm:dir/>
          <dgm:animLvl val="lvl"/>
          <dgm:resizeHandles val="exact"/>
        </dgm:presLayoutVars>
      </dgm:prSet>
      <dgm:spPr/>
    </dgm:pt>
    <dgm:pt modelId="{D5CB1A5C-C4FA-46D5-84B9-4E390EEBE918}" type="pres">
      <dgm:prSet presAssocID="{9EBE95E7-12EF-41D5-8792-019AC23DD790}" presName="compNode" presStyleCnt="0"/>
      <dgm:spPr/>
    </dgm:pt>
    <dgm:pt modelId="{900F0344-092C-4426-BA82-82B49BECF872}" type="pres">
      <dgm:prSet presAssocID="{9EBE95E7-12EF-41D5-8792-019AC23DD790}" presName="childRect" presStyleLbl="bgAcc1" presStyleIdx="0" presStyleCnt="3">
        <dgm:presLayoutVars>
          <dgm:bulletEnabled val="1"/>
        </dgm:presLayoutVars>
      </dgm:prSet>
      <dgm:spPr/>
    </dgm:pt>
    <dgm:pt modelId="{D47341CE-9CE5-42A2-9B09-D5779097E2F1}" type="pres">
      <dgm:prSet presAssocID="{9EBE95E7-12EF-41D5-8792-019AC23DD790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BD4A64D0-1645-4779-8EC6-089009E4A781}" type="pres">
      <dgm:prSet presAssocID="{9EBE95E7-12EF-41D5-8792-019AC23DD790}" presName="parentRect" presStyleLbl="alignNode1" presStyleIdx="0" presStyleCnt="3"/>
      <dgm:spPr/>
    </dgm:pt>
    <dgm:pt modelId="{CD59B9FF-4783-479D-8153-F93C752A1F6A}" type="pres">
      <dgm:prSet presAssocID="{9EBE95E7-12EF-41D5-8792-019AC23DD790}" presName="adorn" presStyleLbl="fgAccFollowNode1" presStyleIdx="0" presStyleCnt="3" custScaleX="69273" custScaleY="66518" custLinFactNeighborX="-33377" custLinFactNeighborY="-2332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66347F9-4F1D-48C5-A9F9-BE6231971BFE}" type="pres">
      <dgm:prSet presAssocID="{C342D403-484D-46AE-9A8E-FD53788177A2}" presName="sibTrans" presStyleLbl="sibTrans2D1" presStyleIdx="0" presStyleCnt="0"/>
      <dgm:spPr/>
    </dgm:pt>
    <dgm:pt modelId="{587328A3-1D20-4098-B108-A6074F2988EF}" type="pres">
      <dgm:prSet presAssocID="{B74C757A-DAC9-4D6A-9D0B-EEFC7C638984}" presName="compNode" presStyleCnt="0"/>
      <dgm:spPr/>
    </dgm:pt>
    <dgm:pt modelId="{B50DF1E6-640A-4DC7-B19F-993BBABD4F3F}" type="pres">
      <dgm:prSet presAssocID="{B74C757A-DAC9-4D6A-9D0B-EEFC7C638984}" presName="childRect" presStyleLbl="bgAcc1" presStyleIdx="1" presStyleCnt="3">
        <dgm:presLayoutVars>
          <dgm:bulletEnabled val="1"/>
        </dgm:presLayoutVars>
      </dgm:prSet>
      <dgm:spPr/>
    </dgm:pt>
    <dgm:pt modelId="{AA6CF6EA-591C-490B-B925-EB48211E7DA6}" type="pres">
      <dgm:prSet presAssocID="{B74C757A-DAC9-4D6A-9D0B-EEFC7C638984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06D4F9C0-4A88-4355-AB3A-665F21E4039C}" type="pres">
      <dgm:prSet presAssocID="{B74C757A-DAC9-4D6A-9D0B-EEFC7C638984}" presName="parentRect" presStyleLbl="alignNode1" presStyleIdx="1" presStyleCnt="3"/>
      <dgm:spPr/>
    </dgm:pt>
    <dgm:pt modelId="{4234E2BE-E3D9-49C5-AE0B-FF01597B2551}" type="pres">
      <dgm:prSet presAssocID="{B74C757A-DAC9-4D6A-9D0B-EEFC7C638984}" presName="adorn" presStyleLbl="fgAccFollowNode1" presStyleIdx="1" presStyleCnt="3" custScaleX="81985" custScaleY="83710" custLinFactNeighborX="-16002" custLinFactNeighborY="-1882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1000" r="-1000"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7D59BAA-9310-4A9E-8283-648DE8BF6FCF}" type="pres">
      <dgm:prSet presAssocID="{F855833B-A14A-4B15-B3DC-838BB342D46F}" presName="sibTrans" presStyleLbl="sibTrans2D1" presStyleIdx="0" presStyleCnt="0"/>
      <dgm:spPr/>
    </dgm:pt>
    <dgm:pt modelId="{64831937-68C7-4386-9E5E-F09F8603B55F}" type="pres">
      <dgm:prSet presAssocID="{2BB0AB8C-8A55-49FA-9D70-BCC293F058E5}" presName="compNode" presStyleCnt="0"/>
      <dgm:spPr/>
    </dgm:pt>
    <dgm:pt modelId="{A2A94497-8B12-4688-B0D9-115E16BE77E4}" type="pres">
      <dgm:prSet presAssocID="{2BB0AB8C-8A55-49FA-9D70-BCC293F058E5}" presName="childRect" presStyleLbl="bgAcc1" presStyleIdx="2" presStyleCnt="3">
        <dgm:presLayoutVars>
          <dgm:bulletEnabled val="1"/>
        </dgm:presLayoutVars>
      </dgm:prSet>
      <dgm:spPr/>
    </dgm:pt>
    <dgm:pt modelId="{418BB925-8146-4113-A7A1-8F23B3691ECE}" type="pres">
      <dgm:prSet presAssocID="{2BB0AB8C-8A55-49FA-9D70-BCC293F058E5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31C51AF-678C-43F2-BFA4-66C04C192B41}" type="pres">
      <dgm:prSet presAssocID="{2BB0AB8C-8A55-49FA-9D70-BCC293F058E5}" presName="parentRect" presStyleLbl="alignNode1" presStyleIdx="2" presStyleCnt="3"/>
      <dgm:spPr/>
    </dgm:pt>
    <dgm:pt modelId="{567ED8D0-FAB9-4792-917A-140C61C0E089}" type="pres">
      <dgm:prSet presAssocID="{2BB0AB8C-8A55-49FA-9D70-BCC293F058E5}" presName="adorn" presStyleLbl="fgAccFollowNode1" presStyleIdx="2" presStyleCnt="3" custScaleX="78597" custScaleY="77750" custLinFactNeighborX="-17671" custLinFactNeighborY="-16741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5000" r="-5000"/>
          </a:stretch>
        </a:blipFill>
      </dgm:spPr>
      <dgm:extLst>
        <a:ext uri="{E40237B7-FDA0-4F09-8148-C483321AD2D9}">
          <dgm14:cNvPr xmlns:dgm14="http://schemas.microsoft.com/office/drawing/2010/diagram" id="0" name="" descr="Store"/>
        </a:ext>
      </dgm:extLst>
    </dgm:pt>
  </dgm:ptLst>
  <dgm:cxnLst>
    <dgm:cxn modelId="{5BD39A2D-04B9-468E-8303-5E1E6BE61C8E}" type="presOf" srcId="{2BB0AB8C-8A55-49FA-9D70-BCC293F058E5}" destId="{431C51AF-678C-43F2-BFA4-66C04C192B41}" srcOrd="1" destOrd="0" presId="urn:microsoft.com/office/officeart/2005/8/layout/bList2"/>
    <dgm:cxn modelId="{27DC546C-99F8-4ADB-83C9-B1F04A6FA4F8}" type="presOf" srcId="{C0049F0C-355C-4C4D-ACF5-B7D0E083DF02}" destId="{900F0344-092C-4426-BA82-82B49BECF872}" srcOrd="0" destOrd="0" presId="urn:microsoft.com/office/officeart/2005/8/layout/bList2"/>
    <dgm:cxn modelId="{0B5EF274-4AEC-43F7-8941-BA5B19B84724}" type="presOf" srcId="{C43F9E6C-0237-465B-8346-5BEF52072266}" destId="{A2A94497-8B12-4688-B0D9-115E16BE77E4}" srcOrd="0" destOrd="0" presId="urn:microsoft.com/office/officeart/2005/8/layout/bList2"/>
    <dgm:cxn modelId="{CFA6D156-2C72-4308-BBC5-D87BC4F7E473}" srcId="{60C51807-0AF5-4B38-BE9B-B460C38D48BD}" destId="{9EBE95E7-12EF-41D5-8792-019AC23DD790}" srcOrd="0" destOrd="0" parTransId="{708238A2-119A-4B78-8D2C-849BDB1EC460}" sibTransId="{C342D403-484D-46AE-9A8E-FD53788177A2}"/>
    <dgm:cxn modelId="{31509C84-3E1A-4BAB-B79C-FBA27D56D126}" type="presOf" srcId="{B74C757A-DAC9-4D6A-9D0B-EEFC7C638984}" destId="{06D4F9C0-4A88-4355-AB3A-665F21E4039C}" srcOrd="1" destOrd="0" presId="urn:microsoft.com/office/officeart/2005/8/layout/bList2"/>
    <dgm:cxn modelId="{E9BEB694-06CA-4E10-84E6-B14BD72AFE75}" srcId="{B74C757A-DAC9-4D6A-9D0B-EEFC7C638984}" destId="{ECCDA5F8-F990-464A-AF92-6193266FA030}" srcOrd="0" destOrd="0" parTransId="{56717AE5-829D-4C3C-9C89-7F5DCAFE12CD}" sibTransId="{5A7F4BDB-1C47-4F05-BAEB-A2CD2154650C}"/>
    <dgm:cxn modelId="{9CFC3B9A-E2B0-449C-A2A9-40CAE5033DEB}" type="presOf" srcId="{ECCDA5F8-F990-464A-AF92-6193266FA030}" destId="{B50DF1E6-640A-4DC7-B19F-993BBABD4F3F}" srcOrd="0" destOrd="0" presId="urn:microsoft.com/office/officeart/2005/8/layout/bList2"/>
    <dgm:cxn modelId="{CB7443B4-6742-4422-9A17-29240924F8FD}" type="presOf" srcId="{F855833B-A14A-4B15-B3DC-838BB342D46F}" destId="{C7D59BAA-9310-4A9E-8283-648DE8BF6FCF}" srcOrd="0" destOrd="0" presId="urn:microsoft.com/office/officeart/2005/8/layout/bList2"/>
    <dgm:cxn modelId="{351AA1B6-F0C3-458D-AE4F-C43A0C702055}" type="presOf" srcId="{C342D403-484D-46AE-9A8E-FD53788177A2}" destId="{966347F9-4F1D-48C5-A9F9-BE6231971BFE}" srcOrd="0" destOrd="0" presId="urn:microsoft.com/office/officeart/2005/8/layout/bList2"/>
    <dgm:cxn modelId="{D49CBBB8-3813-4FE3-9E85-7EAEF81DE8A8}" type="presOf" srcId="{60C51807-0AF5-4B38-BE9B-B460C38D48BD}" destId="{0B42B324-94A8-4700-99EB-668DAAFAAABD}" srcOrd="0" destOrd="0" presId="urn:microsoft.com/office/officeart/2005/8/layout/bList2"/>
    <dgm:cxn modelId="{5BB10EB9-F085-4CDC-9994-1B6EA6C16584}" srcId="{60C51807-0AF5-4B38-BE9B-B460C38D48BD}" destId="{2BB0AB8C-8A55-49FA-9D70-BCC293F058E5}" srcOrd="2" destOrd="0" parTransId="{F053BC41-399B-4EB0-8B39-139DC3B7F669}" sibTransId="{BC2B324B-C3E2-44C8-8A05-415D53B424E5}"/>
    <dgm:cxn modelId="{55DD6EBD-8D85-4CFB-8ABF-E6A0F9F7EBD4}" type="presOf" srcId="{2BB0AB8C-8A55-49FA-9D70-BCC293F058E5}" destId="{418BB925-8146-4113-A7A1-8F23B3691ECE}" srcOrd="0" destOrd="0" presId="urn:microsoft.com/office/officeart/2005/8/layout/bList2"/>
    <dgm:cxn modelId="{2B5AE4C0-9DE3-4C4B-BED8-F9397059F3F3}" type="presOf" srcId="{B74C757A-DAC9-4D6A-9D0B-EEFC7C638984}" destId="{AA6CF6EA-591C-490B-B925-EB48211E7DA6}" srcOrd="0" destOrd="0" presId="urn:microsoft.com/office/officeart/2005/8/layout/bList2"/>
    <dgm:cxn modelId="{C5B6EFCC-F9E4-4488-A687-06EAB24DEC0A}" srcId="{60C51807-0AF5-4B38-BE9B-B460C38D48BD}" destId="{B74C757A-DAC9-4D6A-9D0B-EEFC7C638984}" srcOrd="1" destOrd="0" parTransId="{0B082470-DB45-443B-B4E4-3D6C9CB81AC4}" sibTransId="{F855833B-A14A-4B15-B3DC-838BB342D46F}"/>
    <dgm:cxn modelId="{123294CE-7063-4C78-B520-C3D378382874}" type="presOf" srcId="{9EBE95E7-12EF-41D5-8792-019AC23DD790}" destId="{BD4A64D0-1645-4779-8EC6-089009E4A781}" srcOrd="1" destOrd="0" presId="urn:microsoft.com/office/officeart/2005/8/layout/bList2"/>
    <dgm:cxn modelId="{EC2470E3-26E0-47E4-BEF0-0586B12143EE}" srcId="{2BB0AB8C-8A55-49FA-9D70-BCC293F058E5}" destId="{C43F9E6C-0237-465B-8346-5BEF52072266}" srcOrd="0" destOrd="0" parTransId="{411F45D4-1EF4-492A-9D26-E23F25F867D0}" sibTransId="{00715698-7475-44D8-85B6-940FA23CAC0C}"/>
    <dgm:cxn modelId="{2AF5BFF4-EC46-4547-A7AD-93E241CF3A32}" srcId="{9EBE95E7-12EF-41D5-8792-019AC23DD790}" destId="{C0049F0C-355C-4C4D-ACF5-B7D0E083DF02}" srcOrd="0" destOrd="0" parTransId="{E6D346C0-2BF9-47CF-9FA1-19641868DE0E}" sibTransId="{C6F865F9-67FF-4D28-91ED-F596B5111011}"/>
    <dgm:cxn modelId="{DDA385FD-3465-4F14-B1ED-4C1403E57E62}" type="presOf" srcId="{9EBE95E7-12EF-41D5-8792-019AC23DD790}" destId="{D47341CE-9CE5-42A2-9B09-D5779097E2F1}" srcOrd="0" destOrd="0" presId="urn:microsoft.com/office/officeart/2005/8/layout/bList2"/>
    <dgm:cxn modelId="{75B18155-DB66-4C64-AE14-2DBF1CEA5669}" type="presParOf" srcId="{0B42B324-94A8-4700-99EB-668DAAFAAABD}" destId="{D5CB1A5C-C4FA-46D5-84B9-4E390EEBE918}" srcOrd="0" destOrd="0" presId="urn:microsoft.com/office/officeart/2005/8/layout/bList2"/>
    <dgm:cxn modelId="{94A9AE3B-173F-4B8E-955D-8EAE99AF177E}" type="presParOf" srcId="{D5CB1A5C-C4FA-46D5-84B9-4E390EEBE918}" destId="{900F0344-092C-4426-BA82-82B49BECF872}" srcOrd="0" destOrd="0" presId="urn:microsoft.com/office/officeart/2005/8/layout/bList2"/>
    <dgm:cxn modelId="{9DAB450A-8D8B-4A4A-9728-4193CBA80115}" type="presParOf" srcId="{D5CB1A5C-C4FA-46D5-84B9-4E390EEBE918}" destId="{D47341CE-9CE5-42A2-9B09-D5779097E2F1}" srcOrd="1" destOrd="0" presId="urn:microsoft.com/office/officeart/2005/8/layout/bList2"/>
    <dgm:cxn modelId="{E068E3CD-0811-43F7-9582-1A0961D45434}" type="presParOf" srcId="{D5CB1A5C-C4FA-46D5-84B9-4E390EEBE918}" destId="{BD4A64D0-1645-4779-8EC6-089009E4A781}" srcOrd="2" destOrd="0" presId="urn:microsoft.com/office/officeart/2005/8/layout/bList2"/>
    <dgm:cxn modelId="{A42C2455-2043-4A01-9519-C2372B7BC437}" type="presParOf" srcId="{D5CB1A5C-C4FA-46D5-84B9-4E390EEBE918}" destId="{CD59B9FF-4783-479D-8153-F93C752A1F6A}" srcOrd="3" destOrd="0" presId="urn:microsoft.com/office/officeart/2005/8/layout/bList2"/>
    <dgm:cxn modelId="{8F4E9577-5D21-4FD4-8B39-696844A97D8D}" type="presParOf" srcId="{0B42B324-94A8-4700-99EB-668DAAFAAABD}" destId="{966347F9-4F1D-48C5-A9F9-BE6231971BFE}" srcOrd="1" destOrd="0" presId="urn:microsoft.com/office/officeart/2005/8/layout/bList2"/>
    <dgm:cxn modelId="{CB2763AF-EB8A-4277-8B3D-49C1B0911FFA}" type="presParOf" srcId="{0B42B324-94A8-4700-99EB-668DAAFAAABD}" destId="{587328A3-1D20-4098-B108-A6074F2988EF}" srcOrd="2" destOrd="0" presId="urn:microsoft.com/office/officeart/2005/8/layout/bList2"/>
    <dgm:cxn modelId="{E60A972D-5C89-47CB-9730-F0D923F1EF17}" type="presParOf" srcId="{587328A3-1D20-4098-B108-A6074F2988EF}" destId="{B50DF1E6-640A-4DC7-B19F-993BBABD4F3F}" srcOrd="0" destOrd="0" presId="urn:microsoft.com/office/officeart/2005/8/layout/bList2"/>
    <dgm:cxn modelId="{8717452F-6F46-4ABE-8E34-EF787ED8E8E7}" type="presParOf" srcId="{587328A3-1D20-4098-B108-A6074F2988EF}" destId="{AA6CF6EA-591C-490B-B925-EB48211E7DA6}" srcOrd="1" destOrd="0" presId="urn:microsoft.com/office/officeart/2005/8/layout/bList2"/>
    <dgm:cxn modelId="{6CECE41B-0B02-4514-A7F7-548410615009}" type="presParOf" srcId="{587328A3-1D20-4098-B108-A6074F2988EF}" destId="{06D4F9C0-4A88-4355-AB3A-665F21E4039C}" srcOrd="2" destOrd="0" presId="urn:microsoft.com/office/officeart/2005/8/layout/bList2"/>
    <dgm:cxn modelId="{89BDE2CD-DBD2-4518-923E-754C123C19F8}" type="presParOf" srcId="{587328A3-1D20-4098-B108-A6074F2988EF}" destId="{4234E2BE-E3D9-49C5-AE0B-FF01597B2551}" srcOrd="3" destOrd="0" presId="urn:microsoft.com/office/officeart/2005/8/layout/bList2"/>
    <dgm:cxn modelId="{C23015B5-8A24-4055-A56E-4268449DD59E}" type="presParOf" srcId="{0B42B324-94A8-4700-99EB-668DAAFAAABD}" destId="{C7D59BAA-9310-4A9E-8283-648DE8BF6FCF}" srcOrd="3" destOrd="0" presId="urn:microsoft.com/office/officeart/2005/8/layout/bList2"/>
    <dgm:cxn modelId="{71D2E0CC-FC2C-4014-819F-6D816925AEFA}" type="presParOf" srcId="{0B42B324-94A8-4700-99EB-668DAAFAAABD}" destId="{64831937-68C7-4386-9E5E-F09F8603B55F}" srcOrd="4" destOrd="0" presId="urn:microsoft.com/office/officeart/2005/8/layout/bList2"/>
    <dgm:cxn modelId="{47F4D8A3-CB5D-46DD-B712-E21F4BA649C4}" type="presParOf" srcId="{64831937-68C7-4386-9E5E-F09F8603B55F}" destId="{A2A94497-8B12-4688-B0D9-115E16BE77E4}" srcOrd="0" destOrd="0" presId="urn:microsoft.com/office/officeart/2005/8/layout/bList2"/>
    <dgm:cxn modelId="{037F6D2D-9DB5-4B54-B652-134DFCA1DB97}" type="presParOf" srcId="{64831937-68C7-4386-9E5E-F09F8603B55F}" destId="{418BB925-8146-4113-A7A1-8F23B3691ECE}" srcOrd="1" destOrd="0" presId="urn:microsoft.com/office/officeart/2005/8/layout/bList2"/>
    <dgm:cxn modelId="{E9338754-A9A4-46B6-BDFA-6DACA44D339A}" type="presParOf" srcId="{64831937-68C7-4386-9E5E-F09F8603B55F}" destId="{431C51AF-678C-43F2-BFA4-66C04C192B41}" srcOrd="2" destOrd="0" presId="urn:microsoft.com/office/officeart/2005/8/layout/bList2"/>
    <dgm:cxn modelId="{5D2A972B-B6C6-4486-AC14-EAD31DDE5144}" type="presParOf" srcId="{64831937-68C7-4386-9E5E-F09F8603B55F}" destId="{567ED8D0-FAB9-4792-917A-140C61C0E089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E22F99-B268-4D38-8333-9571A9C9448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IN"/>
        </a:p>
      </dgm:t>
    </dgm:pt>
    <dgm:pt modelId="{342518DD-84B1-457C-A69D-4A4279436CDF}">
      <dgm:prSet/>
      <dgm:spPr/>
      <dgm:t>
        <a:bodyPr/>
        <a:lstStyle/>
        <a:p>
          <a:r>
            <a:rPr lang="en-US" b="1"/>
            <a:t>Pharmacy Admin:</a:t>
          </a:r>
          <a:endParaRPr lang="en-IN"/>
        </a:p>
      </dgm:t>
    </dgm:pt>
    <dgm:pt modelId="{67902DAE-30DF-4CDE-805D-28C50CC095F6}" type="parTrans" cxnId="{D28C3BF5-3449-4A76-BC38-64EE8981B091}">
      <dgm:prSet/>
      <dgm:spPr/>
      <dgm:t>
        <a:bodyPr/>
        <a:lstStyle/>
        <a:p>
          <a:endParaRPr lang="en-IN"/>
        </a:p>
      </dgm:t>
    </dgm:pt>
    <dgm:pt modelId="{C69629C5-7F95-464B-BA4D-DB1330E5732C}" type="sibTrans" cxnId="{D28C3BF5-3449-4A76-BC38-64EE8981B091}">
      <dgm:prSet/>
      <dgm:spPr/>
      <dgm:t>
        <a:bodyPr/>
        <a:lstStyle/>
        <a:p>
          <a:endParaRPr lang="en-IN"/>
        </a:p>
      </dgm:t>
    </dgm:pt>
    <dgm:pt modelId="{D7ED1947-EE68-437E-BD94-13FE270592DF}">
      <dgm:prSet/>
      <dgm:spPr/>
      <dgm:t>
        <a:bodyPr/>
        <a:lstStyle/>
        <a:p>
          <a:r>
            <a:rPr lang="en-US" b="1" i="1" dirty="0"/>
            <a:t>Access Level: Full access to all database tables.</a:t>
          </a:r>
          <a:endParaRPr lang="en-IN" dirty="0"/>
        </a:p>
      </dgm:t>
    </dgm:pt>
    <dgm:pt modelId="{2971156B-8164-48EC-ACF8-C50696B360D8}" type="parTrans" cxnId="{80A393CF-0B04-4AA4-A777-A847785BBC50}">
      <dgm:prSet/>
      <dgm:spPr/>
      <dgm:t>
        <a:bodyPr/>
        <a:lstStyle/>
        <a:p>
          <a:endParaRPr lang="en-IN"/>
        </a:p>
      </dgm:t>
    </dgm:pt>
    <dgm:pt modelId="{11BCCBDB-7EAF-4CA0-B11B-923CE324B6CE}" type="sibTrans" cxnId="{80A393CF-0B04-4AA4-A777-A847785BBC50}">
      <dgm:prSet/>
      <dgm:spPr/>
      <dgm:t>
        <a:bodyPr/>
        <a:lstStyle/>
        <a:p>
          <a:endParaRPr lang="en-IN"/>
        </a:p>
      </dgm:t>
    </dgm:pt>
    <dgm:pt modelId="{2CE792ED-3E0C-4213-855D-7DCB78298DD8}">
      <dgm:prSet/>
      <dgm:spPr/>
      <dgm:t>
        <a:bodyPr/>
        <a:lstStyle/>
        <a:p>
          <a:r>
            <a:rPr lang="en-US"/>
            <a:t>Type of Access:</a:t>
          </a:r>
          <a:endParaRPr lang="en-IN"/>
        </a:p>
      </dgm:t>
    </dgm:pt>
    <dgm:pt modelId="{1DF334A5-4152-4595-80DF-4016FE3B1DDA}" type="parTrans" cxnId="{E423948C-E956-4DDC-B4F9-C4DB0AE6E08B}">
      <dgm:prSet/>
      <dgm:spPr/>
      <dgm:t>
        <a:bodyPr/>
        <a:lstStyle/>
        <a:p>
          <a:endParaRPr lang="en-IN"/>
        </a:p>
      </dgm:t>
    </dgm:pt>
    <dgm:pt modelId="{673BC621-BFC6-48E7-9C1E-2CAAEE6D64CD}" type="sibTrans" cxnId="{E423948C-E956-4DDC-B4F9-C4DB0AE6E08B}">
      <dgm:prSet/>
      <dgm:spPr/>
      <dgm:t>
        <a:bodyPr/>
        <a:lstStyle/>
        <a:p>
          <a:endParaRPr lang="en-IN"/>
        </a:p>
      </dgm:t>
    </dgm:pt>
    <dgm:pt modelId="{3A7A88CD-B402-477F-A307-3179E261BB16}">
      <dgm:prSet/>
      <dgm:spPr/>
      <dgm:t>
        <a:bodyPr/>
        <a:lstStyle/>
        <a:p>
          <a:r>
            <a:rPr lang="en-US"/>
            <a:t>Create: Can create new records in all tables.</a:t>
          </a:r>
          <a:endParaRPr lang="en-IN"/>
        </a:p>
      </dgm:t>
    </dgm:pt>
    <dgm:pt modelId="{5AA4F48B-AF41-41D5-A97F-758458ACC9A3}" type="parTrans" cxnId="{35347848-5061-4CF9-93A6-7CF562D9D88B}">
      <dgm:prSet/>
      <dgm:spPr/>
      <dgm:t>
        <a:bodyPr/>
        <a:lstStyle/>
        <a:p>
          <a:endParaRPr lang="en-IN"/>
        </a:p>
      </dgm:t>
    </dgm:pt>
    <dgm:pt modelId="{E3065A92-7B4B-4758-904A-463432320281}" type="sibTrans" cxnId="{35347848-5061-4CF9-93A6-7CF562D9D88B}">
      <dgm:prSet/>
      <dgm:spPr/>
      <dgm:t>
        <a:bodyPr/>
        <a:lstStyle/>
        <a:p>
          <a:endParaRPr lang="en-IN"/>
        </a:p>
      </dgm:t>
    </dgm:pt>
    <dgm:pt modelId="{A430EE3A-A25C-4186-A661-7112DEC0F241}">
      <dgm:prSet/>
      <dgm:spPr/>
      <dgm:t>
        <a:bodyPr/>
        <a:lstStyle/>
        <a:p>
          <a:r>
            <a:rPr lang="en-US" dirty="0"/>
            <a:t>Read: Can view data from all tables.</a:t>
          </a:r>
          <a:endParaRPr lang="en-IN" dirty="0"/>
        </a:p>
      </dgm:t>
    </dgm:pt>
    <dgm:pt modelId="{6D68F25B-6104-45C2-B602-109C61ED7F4D}" type="parTrans" cxnId="{67C12978-54F1-4937-BB02-E68933E087EE}">
      <dgm:prSet/>
      <dgm:spPr/>
      <dgm:t>
        <a:bodyPr/>
        <a:lstStyle/>
        <a:p>
          <a:endParaRPr lang="en-IN"/>
        </a:p>
      </dgm:t>
    </dgm:pt>
    <dgm:pt modelId="{2203D389-F2E0-4727-B7DE-96BD5541BA30}" type="sibTrans" cxnId="{67C12978-54F1-4937-BB02-E68933E087EE}">
      <dgm:prSet/>
      <dgm:spPr/>
      <dgm:t>
        <a:bodyPr/>
        <a:lstStyle/>
        <a:p>
          <a:endParaRPr lang="en-IN"/>
        </a:p>
      </dgm:t>
    </dgm:pt>
    <dgm:pt modelId="{2D122BDC-045D-4109-902C-39A7400D1AE6}">
      <dgm:prSet/>
      <dgm:spPr/>
      <dgm:t>
        <a:bodyPr/>
        <a:lstStyle/>
        <a:p>
          <a:r>
            <a:rPr lang="en-US"/>
            <a:t>Update: Can modify existing records in all tables.</a:t>
          </a:r>
          <a:endParaRPr lang="en-IN"/>
        </a:p>
      </dgm:t>
    </dgm:pt>
    <dgm:pt modelId="{D733CFEF-9F64-4EE0-8329-094A7373AA1A}" type="parTrans" cxnId="{C70AAF9C-A696-4F81-BC95-75E8F029C538}">
      <dgm:prSet/>
      <dgm:spPr/>
      <dgm:t>
        <a:bodyPr/>
        <a:lstStyle/>
        <a:p>
          <a:endParaRPr lang="en-IN"/>
        </a:p>
      </dgm:t>
    </dgm:pt>
    <dgm:pt modelId="{91EE6CA3-E7B2-4130-A8B0-49F521649D1A}" type="sibTrans" cxnId="{C70AAF9C-A696-4F81-BC95-75E8F029C538}">
      <dgm:prSet/>
      <dgm:spPr/>
      <dgm:t>
        <a:bodyPr/>
        <a:lstStyle/>
        <a:p>
          <a:endParaRPr lang="en-IN"/>
        </a:p>
      </dgm:t>
    </dgm:pt>
    <dgm:pt modelId="{EAF4CEDB-DBE2-4217-A396-EFB402493220}">
      <dgm:prSet/>
      <dgm:spPr/>
      <dgm:t>
        <a:bodyPr/>
        <a:lstStyle/>
        <a:p>
          <a:r>
            <a:rPr lang="en-US" b="1"/>
            <a:t>Cashier:</a:t>
          </a:r>
          <a:endParaRPr lang="en-IN"/>
        </a:p>
      </dgm:t>
    </dgm:pt>
    <dgm:pt modelId="{737DE6BD-7833-4FA3-829D-E23893417392}" type="parTrans" cxnId="{7B831E00-F6E8-44D3-8040-2A9629CA5694}">
      <dgm:prSet/>
      <dgm:spPr/>
      <dgm:t>
        <a:bodyPr/>
        <a:lstStyle/>
        <a:p>
          <a:endParaRPr lang="en-IN"/>
        </a:p>
      </dgm:t>
    </dgm:pt>
    <dgm:pt modelId="{963D422A-FF99-44D9-BF84-795500F6CCD1}" type="sibTrans" cxnId="{7B831E00-F6E8-44D3-8040-2A9629CA5694}">
      <dgm:prSet/>
      <dgm:spPr/>
      <dgm:t>
        <a:bodyPr/>
        <a:lstStyle/>
        <a:p>
          <a:endParaRPr lang="en-IN"/>
        </a:p>
      </dgm:t>
    </dgm:pt>
    <dgm:pt modelId="{24252A16-F330-4B0E-ACBC-10C06DDD4432}">
      <dgm:prSet/>
      <dgm:spPr/>
      <dgm:t>
        <a:bodyPr/>
        <a:lstStyle/>
        <a:p>
          <a:r>
            <a:rPr lang="en-US" b="1" i="1"/>
            <a:t>Access Level: Limited access primarily related to billing and customer data.</a:t>
          </a:r>
          <a:endParaRPr lang="en-IN"/>
        </a:p>
      </dgm:t>
    </dgm:pt>
    <dgm:pt modelId="{D56E7648-561F-4DF9-8F42-552443BE5010}" type="parTrans" cxnId="{BE0FA74C-E63D-44EB-B93C-0726C4C72EBD}">
      <dgm:prSet/>
      <dgm:spPr/>
      <dgm:t>
        <a:bodyPr/>
        <a:lstStyle/>
        <a:p>
          <a:endParaRPr lang="en-IN"/>
        </a:p>
      </dgm:t>
    </dgm:pt>
    <dgm:pt modelId="{98CFB4AB-BC40-4A5C-B1A6-B2F09B0C29C2}" type="sibTrans" cxnId="{BE0FA74C-E63D-44EB-B93C-0726C4C72EBD}">
      <dgm:prSet/>
      <dgm:spPr/>
      <dgm:t>
        <a:bodyPr/>
        <a:lstStyle/>
        <a:p>
          <a:endParaRPr lang="en-IN"/>
        </a:p>
      </dgm:t>
    </dgm:pt>
    <dgm:pt modelId="{48AEF4B3-4016-47BE-BCD9-7963EF51FB4C}">
      <dgm:prSet/>
      <dgm:spPr/>
      <dgm:t>
        <a:bodyPr/>
        <a:lstStyle/>
        <a:p>
          <a:r>
            <a:rPr lang="en-US" dirty="0"/>
            <a:t>Type of Access:</a:t>
          </a:r>
          <a:endParaRPr lang="en-IN" dirty="0"/>
        </a:p>
      </dgm:t>
    </dgm:pt>
    <dgm:pt modelId="{23A31C8A-EEEA-4157-A036-AB062B875C87}" type="parTrans" cxnId="{A2718616-8F56-4832-865F-FB3AEC3F61E7}">
      <dgm:prSet/>
      <dgm:spPr/>
      <dgm:t>
        <a:bodyPr/>
        <a:lstStyle/>
        <a:p>
          <a:endParaRPr lang="en-IN"/>
        </a:p>
      </dgm:t>
    </dgm:pt>
    <dgm:pt modelId="{33B83124-082C-49EF-A126-23F35910DAD8}" type="sibTrans" cxnId="{A2718616-8F56-4832-865F-FB3AEC3F61E7}">
      <dgm:prSet/>
      <dgm:spPr/>
      <dgm:t>
        <a:bodyPr/>
        <a:lstStyle/>
        <a:p>
          <a:endParaRPr lang="en-IN"/>
        </a:p>
      </dgm:t>
    </dgm:pt>
    <dgm:pt modelId="{43040083-E0DE-4725-996B-4847048D6E26}">
      <dgm:prSet/>
      <dgm:spPr/>
      <dgm:t>
        <a:bodyPr/>
        <a:lstStyle/>
        <a:p>
          <a:r>
            <a:rPr lang="en-US"/>
            <a:t>Create: Can create new records in the ORDER_BILL, PAYMENT_BILL, CUSTOMER, PRESCRIPTION, and PRESCRIBED_DRUGS tables.</a:t>
          </a:r>
          <a:endParaRPr lang="en-IN"/>
        </a:p>
      </dgm:t>
    </dgm:pt>
    <dgm:pt modelId="{17D16AD2-D87A-4352-96F3-832ED4F42785}" type="parTrans" cxnId="{2311FC08-A5FD-4D51-9B54-994B9517A368}">
      <dgm:prSet/>
      <dgm:spPr/>
      <dgm:t>
        <a:bodyPr/>
        <a:lstStyle/>
        <a:p>
          <a:endParaRPr lang="en-IN"/>
        </a:p>
      </dgm:t>
    </dgm:pt>
    <dgm:pt modelId="{E96C1373-07A5-42E9-84E8-403AF6579B7C}" type="sibTrans" cxnId="{2311FC08-A5FD-4D51-9B54-994B9517A368}">
      <dgm:prSet/>
      <dgm:spPr/>
      <dgm:t>
        <a:bodyPr/>
        <a:lstStyle/>
        <a:p>
          <a:endParaRPr lang="en-IN"/>
        </a:p>
      </dgm:t>
    </dgm:pt>
    <dgm:pt modelId="{93D0E528-3488-4AA0-8C54-A320C9BBA89B}">
      <dgm:prSet/>
      <dgm:spPr/>
      <dgm:t>
        <a:bodyPr/>
        <a:lstStyle/>
        <a:p>
          <a:r>
            <a:rPr lang="en-US"/>
            <a:t>Read: Can view data from the ORDER_BILL, PAYMENT_BILL, CUSTOMER, PRESCRIPTION, and PRESCRIBED_DRUGS tables.</a:t>
          </a:r>
          <a:endParaRPr lang="en-IN"/>
        </a:p>
      </dgm:t>
    </dgm:pt>
    <dgm:pt modelId="{3E403E3D-05FF-4384-9037-9822A8C2BAB4}" type="parTrans" cxnId="{8198C422-A64E-4951-89B8-318A17151D8B}">
      <dgm:prSet/>
      <dgm:spPr/>
      <dgm:t>
        <a:bodyPr/>
        <a:lstStyle/>
        <a:p>
          <a:endParaRPr lang="en-IN"/>
        </a:p>
      </dgm:t>
    </dgm:pt>
    <dgm:pt modelId="{14A4800F-2DB3-4B33-9731-004709701A90}" type="sibTrans" cxnId="{8198C422-A64E-4951-89B8-318A17151D8B}">
      <dgm:prSet/>
      <dgm:spPr/>
      <dgm:t>
        <a:bodyPr/>
        <a:lstStyle/>
        <a:p>
          <a:endParaRPr lang="en-IN"/>
        </a:p>
      </dgm:t>
    </dgm:pt>
    <dgm:pt modelId="{A9346643-FB85-4C57-B0C2-82B0648F2919}">
      <dgm:prSet/>
      <dgm:spPr/>
      <dgm:t>
        <a:bodyPr/>
        <a:lstStyle/>
        <a:p>
          <a:r>
            <a:rPr lang="en-US" dirty="0"/>
            <a:t>Update: Can modify existing records in the ORDER_BILL and PAYMENT_BILL tables.</a:t>
          </a:r>
          <a:endParaRPr lang="en-IN" dirty="0"/>
        </a:p>
      </dgm:t>
    </dgm:pt>
    <dgm:pt modelId="{8C994234-43AF-4349-BFBB-15CCA813A327}" type="parTrans" cxnId="{4B188818-785A-45E6-BC5D-FE7337093A45}">
      <dgm:prSet/>
      <dgm:spPr/>
      <dgm:t>
        <a:bodyPr/>
        <a:lstStyle/>
        <a:p>
          <a:endParaRPr lang="en-IN"/>
        </a:p>
      </dgm:t>
    </dgm:pt>
    <dgm:pt modelId="{4960DEC8-34DE-41F0-9B01-16C5F9C7AD0B}" type="sibTrans" cxnId="{4B188818-785A-45E6-BC5D-FE7337093A45}">
      <dgm:prSet/>
      <dgm:spPr/>
      <dgm:t>
        <a:bodyPr/>
        <a:lstStyle/>
        <a:p>
          <a:endParaRPr lang="en-IN"/>
        </a:p>
      </dgm:t>
    </dgm:pt>
    <dgm:pt modelId="{BC960189-3CD2-45A4-94DC-E757E135C023}">
      <dgm:prSet/>
      <dgm:spPr/>
      <dgm:t>
        <a:bodyPr/>
        <a:lstStyle/>
        <a:p>
          <a:r>
            <a:rPr lang="en-US" b="1"/>
            <a:t>Inventory Manager:</a:t>
          </a:r>
          <a:endParaRPr lang="en-IN"/>
        </a:p>
      </dgm:t>
    </dgm:pt>
    <dgm:pt modelId="{DC805E51-8D52-4E98-84A2-AAB6F8502C0D}" type="parTrans" cxnId="{34F64216-C3BC-4168-83AB-8714CD2772F9}">
      <dgm:prSet/>
      <dgm:spPr/>
      <dgm:t>
        <a:bodyPr/>
        <a:lstStyle/>
        <a:p>
          <a:endParaRPr lang="en-IN"/>
        </a:p>
      </dgm:t>
    </dgm:pt>
    <dgm:pt modelId="{14B197B1-54B4-4944-8F98-3B77EBA9C056}" type="sibTrans" cxnId="{34F64216-C3BC-4168-83AB-8714CD2772F9}">
      <dgm:prSet/>
      <dgm:spPr/>
      <dgm:t>
        <a:bodyPr/>
        <a:lstStyle/>
        <a:p>
          <a:endParaRPr lang="en-IN"/>
        </a:p>
      </dgm:t>
    </dgm:pt>
    <dgm:pt modelId="{84A81C64-442B-4FF0-BEE9-D00ACAEA2A5C}">
      <dgm:prSet/>
      <dgm:spPr/>
      <dgm:t>
        <a:bodyPr/>
        <a:lstStyle/>
        <a:p>
          <a:r>
            <a:rPr lang="en-US" b="1" i="1"/>
            <a:t>Access Level: Limited access focused on inventory management.</a:t>
          </a:r>
          <a:endParaRPr lang="en-IN"/>
        </a:p>
      </dgm:t>
    </dgm:pt>
    <dgm:pt modelId="{AB33F46D-195A-4A99-B923-6B614F9843E4}" type="parTrans" cxnId="{3CA816BD-E191-481C-9408-E67A447C8D01}">
      <dgm:prSet/>
      <dgm:spPr/>
      <dgm:t>
        <a:bodyPr/>
        <a:lstStyle/>
        <a:p>
          <a:endParaRPr lang="en-IN"/>
        </a:p>
      </dgm:t>
    </dgm:pt>
    <dgm:pt modelId="{A0C27828-14F7-40BD-A413-15613FEDDBD9}" type="sibTrans" cxnId="{3CA816BD-E191-481C-9408-E67A447C8D01}">
      <dgm:prSet/>
      <dgm:spPr/>
      <dgm:t>
        <a:bodyPr/>
        <a:lstStyle/>
        <a:p>
          <a:endParaRPr lang="en-IN"/>
        </a:p>
      </dgm:t>
    </dgm:pt>
    <dgm:pt modelId="{E1BE9A73-1607-433F-821B-DD5C43A6E4E6}">
      <dgm:prSet/>
      <dgm:spPr/>
      <dgm:t>
        <a:bodyPr/>
        <a:lstStyle/>
        <a:p>
          <a:r>
            <a:rPr lang="en-US"/>
            <a:t>Type of Access:</a:t>
          </a:r>
          <a:endParaRPr lang="en-IN"/>
        </a:p>
      </dgm:t>
    </dgm:pt>
    <dgm:pt modelId="{0DE5CCD5-3E14-4CF3-ABEF-7FDE5B106603}" type="parTrans" cxnId="{5B6E5486-7D3D-4641-8B5E-D797A5BCBD7D}">
      <dgm:prSet/>
      <dgm:spPr/>
      <dgm:t>
        <a:bodyPr/>
        <a:lstStyle/>
        <a:p>
          <a:endParaRPr lang="en-IN"/>
        </a:p>
      </dgm:t>
    </dgm:pt>
    <dgm:pt modelId="{BFF1F3AB-0BDA-4A20-9967-B1AC0AA69229}" type="sibTrans" cxnId="{5B6E5486-7D3D-4641-8B5E-D797A5BCBD7D}">
      <dgm:prSet/>
      <dgm:spPr/>
      <dgm:t>
        <a:bodyPr/>
        <a:lstStyle/>
        <a:p>
          <a:endParaRPr lang="en-IN"/>
        </a:p>
      </dgm:t>
    </dgm:pt>
    <dgm:pt modelId="{31B240CC-B931-4D40-A076-FDE080CE12F3}">
      <dgm:prSet/>
      <dgm:spPr/>
      <dgm:t>
        <a:bodyPr/>
        <a:lstStyle/>
        <a:p>
          <a:r>
            <a:rPr lang="en-US" dirty="0"/>
            <a:t>Create: Can create new records in the INVENTORY and NOTIFICATION tables.</a:t>
          </a:r>
          <a:endParaRPr lang="en-IN" dirty="0"/>
        </a:p>
      </dgm:t>
    </dgm:pt>
    <dgm:pt modelId="{1CEDC5CF-4D77-44D3-85DC-99EF0644EC33}" type="parTrans" cxnId="{0C089CBA-9916-4C65-89E3-9F715182C70B}">
      <dgm:prSet/>
      <dgm:spPr/>
      <dgm:t>
        <a:bodyPr/>
        <a:lstStyle/>
        <a:p>
          <a:endParaRPr lang="en-IN"/>
        </a:p>
      </dgm:t>
    </dgm:pt>
    <dgm:pt modelId="{23421E4B-EB97-4858-8EA1-AD64A8E8CC66}" type="sibTrans" cxnId="{0C089CBA-9916-4C65-89E3-9F715182C70B}">
      <dgm:prSet/>
      <dgm:spPr/>
      <dgm:t>
        <a:bodyPr/>
        <a:lstStyle/>
        <a:p>
          <a:endParaRPr lang="en-IN"/>
        </a:p>
      </dgm:t>
    </dgm:pt>
    <dgm:pt modelId="{B8A1408C-ACF6-4650-8F89-60DFD2331D4A}">
      <dgm:prSet/>
      <dgm:spPr/>
      <dgm:t>
        <a:bodyPr/>
        <a:lstStyle/>
        <a:p>
          <a:r>
            <a:rPr lang="en-US"/>
            <a:t>Read: Can view data from the INVENTORY and NOTIFICATION tables.</a:t>
          </a:r>
          <a:endParaRPr lang="en-IN"/>
        </a:p>
      </dgm:t>
    </dgm:pt>
    <dgm:pt modelId="{CA380CBC-B509-4FD3-B024-684394DCE229}" type="parTrans" cxnId="{62F41094-EFC0-4D58-82E8-4C87CB52EDFC}">
      <dgm:prSet/>
      <dgm:spPr/>
      <dgm:t>
        <a:bodyPr/>
        <a:lstStyle/>
        <a:p>
          <a:endParaRPr lang="en-IN"/>
        </a:p>
      </dgm:t>
    </dgm:pt>
    <dgm:pt modelId="{BC4D145A-4A9F-4217-A52A-967CD38CF11A}" type="sibTrans" cxnId="{62F41094-EFC0-4D58-82E8-4C87CB52EDFC}">
      <dgm:prSet/>
      <dgm:spPr/>
      <dgm:t>
        <a:bodyPr/>
        <a:lstStyle/>
        <a:p>
          <a:endParaRPr lang="en-IN"/>
        </a:p>
      </dgm:t>
    </dgm:pt>
    <dgm:pt modelId="{F5DF34A7-59D5-4D5E-8299-05ACF3C371CD}">
      <dgm:prSet/>
      <dgm:spPr/>
      <dgm:t>
        <a:bodyPr/>
        <a:lstStyle/>
        <a:p>
          <a:r>
            <a:rPr lang="en-US"/>
            <a:t>Update: Can modify existing records in the INVENTORY table.</a:t>
          </a:r>
          <a:endParaRPr lang="en-IN"/>
        </a:p>
      </dgm:t>
    </dgm:pt>
    <dgm:pt modelId="{71ED2795-7AD4-4D58-B847-08B1F863A68C}" type="parTrans" cxnId="{97FB9DAA-C7FF-4D8F-BC91-9FF273F2CDAC}">
      <dgm:prSet/>
      <dgm:spPr/>
      <dgm:t>
        <a:bodyPr/>
        <a:lstStyle/>
        <a:p>
          <a:endParaRPr lang="en-IN"/>
        </a:p>
      </dgm:t>
    </dgm:pt>
    <dgm:pt modelId="{8CCFBC41-C197-4C91-9328-1D9D76CA505D}" type="sibTrans" cxnId="{97FB9DAA-C7FF-4D8F-BC91-9FF273F2CDAC}">
      <dgm:prSet/>
      <dgm:spPr/>
      <dgm:t>
        <a:bodyPr/>
        <a:lstStyle/>
        <a:p>
          <a:endParaRPr lang="en-IN"/>
        </a:p>
      </dgm:t>
    </dgm:pt>
    <dgm:pt modelId="{C0D15F9D-B092-49C6-BAB2-83741303D108}" type="pres">
      <dgm:prSet presAssocID="{92E22F99-B268-4D38-8333-9571A9C94483}" presName="linear" presStyleCnt="0">
        <dgm:presLayoutVars>
          <dgm:animLvl val="lvl"/>
          <dgm:resizeHandles val="exact"/>
        </dgm:presLayoutVars>
      </dgm:prSet>
      <dgm:spPr/>
    </dgm:pt>
    <dgm:pt modelId="{61A2E5D6-D0C4-41F3-A1EB-52BE31D58357}" type="pres">
      <dgm:prSet presAssocID="{342518DD-84B1-457C-A69D-4A4279436CD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9A0E4D0-6E10-40F8-A6D1-E920CF581796}" type="pres">
      <dgm:prSet presAssocID="{342518DD-84B1-457C-A69D-4A4279436CDF}" presName="childText" presStyleLbl="revTx" presStyleIdx="0" presStyleCnt="3">
        <dgm:presLayoutVars>
          <dgm:bulletEnabled val="1"/>
        </dgm:presLayoutVars>
      </dgm:prSet>
      <dgm:spPr/>
    </dgm:pt>
    <dgm:pt modelId="{C9AE1EB8-AB00-493F-86D5-9CD35576372D}" type="pres">
      <dgm:prSet presAssocID="{EAF4CEDB-DBE2-4217-A396-EFB40249322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F38BDF-D245-40F6-BFDE-BCDFCC8515AA}" type="pres">
      <dgm:prSet presAssocID="{EAF4CEDB-DBE2-4217-A396-EFB402493220}" presName="childText" presStyleLbl="revTx" presStyleIdx="1" presStyleCnt="3">
        <dgm:presLayoutVars>
          <dgm:bulletEnabled val="1"/>
        </dgm:presLayoutVars>
      </dgm:prSet>
      <dgm:spPr/>
    </dgm:pt>
    <dgm:pt modelId="{B7B56766-E6D4-4E6F-9863-CB3AB72298AD}" type="pres">
      <dgm:prSet presAssocID="{BC960189-3CD2-45A4-94DC-E757E135C02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3F5FF49-1EE6-49E8-8E24-64503926EA5D}" type="pres">
      <dgm:prSet presAssocID="{BC960189-3CD2-45A4-94DC-E757E135C02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1AD0D00-B4F2-4B07-A07C-67043F75E5D7}" type="presOf" srcId="{84A81C64-442B-4FF0-BEE9-D00ACAEA2A5C}" destId="{23F5FF49-1EE6-49E8-8E24-64503926EA5D}" srcOrd="0" destOrd="0" presId="urn:microsoft.com/office/officeart/2005/8/layout/vList2"/>
    <dgm:cxn modelId="{7B831E00-F6E8-44D3-8040-2A9629CA5694}" srcId="{92E22F99-B268-4D38-8333-9571A9C94483}" destId="{EAF4CEDB-DBE2-4217-A396-EFB402493220}" srcOrd="1" destOrd="0" parTransId="{737DE6BD-7833-4FA3-829D-E23893417392}" sibTransId="{963D422A-FF99-44D9-BF84-795500F6CCD1}"/>
    <dgm:cxn modelId="{2311FC08-A5FD-4D51-9B54-994B9517A368}" srcId="{48AEF4B3-4016-47BE-BCD9-7963EF51FB4C}" destId="{43040083-E0DE-4725-996B-4847048D6E26}" srcOrd="0" destOrd="0" parTransId="{17D16AD2-D87A-4352-96F3-832ED4F42785}" sibTransId="{E96C1373-07A5-42E9-84E8-403AF6579B7C}"/>
    <dgm:cxn modelId="{2FFA2413-764D-40DB-B0AF-70E6DC7A08F4}" type="presOf" srcId="{EAF4CEDB-DBE2-4217-A396-EFB402493220}" destId="{C9AE1EB8-AB00-493F-86D5-9CD35576372D}" srcOrd="0" destOrd="0" presId="urn:microsoft.com/office/officeart/2005/8/layout/vList2"/>
    <dgm:cxn modelId="{34F64216-C3BC-4168-83AB-8714CD2772F9}" srcId="{92E22F99-B268-4D38-8333-9571A9C94483}" destId="{BC960189-3CD2-45A4-94DC-E757E135C023}" srcOrd="2" destOrd="0" parTransId="{DC805E51-8D52-4E98-84A2-AAB6F8502C0D}" sibTransId="{14B197B1-54B4-4944-8F98-3B77EBA9C056}"/>
    <dgm:cxn modelId="{A2718616-8F56-4832-865F-FB3AEC3F61E7}" srcId="{EAF4CEDB-DBE2-4217-A396-EFB402493220}" destId="{48AEF4B3-4016-47BE-BCD9-7963EF51FB4C}" srcOrd="1" destOrd="0" parTransId="{23A31C8A-EEEA-4157-A036-AB062B875C87}" sibTransId="{33B83124-082C-49EF-A126-23F35910DAD8}"/>
    <dgm:cxn modelId="{4B188818-785A-45E6-BC5D-FE7337093A45}" srcId="{48AEF4B3-4016-47BE-BCD9-7963EF51FB4C}" destId="{A9346643-FB85-4C57-B0C2-82B0648F2919}" srcOrd="2" destOrd="0" parTransId="{8C994234-43AF-4349-BFBB-15CCA813A327}" sibTransId="{4960DEC8-34DE-41F0-9B01-16C5F9C7AD0B}"/>
    <dgm:cxn modelId="{7E5F3C21-0437-4A4A-91A8-EAB0E580E32F}" type="presOf" srcId="{F5DF34A7-59D5-4D5E-8299-05ACF3C371CD}" destId="{23F5FF49-1EE6-49E8-8E24-64503926EA5D}" srcOrd="0" destOrd="4" presId="urn:microsoft.com/office/officeart/2005/8/layout/vList2"/>
    <dgm:cxn modelId="{8198C422-A64E-4951-89B8-318A17151D8B}" srcId="{48AEF4B3-4016-47BE-BCD9-7963EF51FB4C}" destId="{93D0E528-3488-4AA0-8C54-A320C9BBA89B}" srcOrd="1" destOrd="0" parTransId="{3E403E3D-05FF-4384-9037-9822A8C2BAB4}" sibTransId="{14A4800F-2DB3-4B33-9731-004709701A90}"/>
    <dgm:cxn modelId="{F492013A-E44F-4740-A360-100F2D6308CE}" type="presOf" srcId="{3A7A88CD-B402-477F-A307-3179E261BB16}" destId="{39A0E4D0-6E10-40F8-A6D1-E920CF581796}" srcOrd="0" destOrd="2" presId="urn:microsoft.com/office/officeart/2005/8/layout/vList2"/>
    <dgm:cxn modelId="{6C05C044-0B9C-498E-8A0F-E1606D244E16}" type="presOf" srcId="{43040083-E0DE-4725-996B-4847048D6E26}" destId="{4BF38BDF-D245-40F6-BFDE-BCDFCC8515AA}" srcOrd="0" destOrd="2" presId="urn:microsoft.com/office/officeart/2005/8/layout/vList2"/>
    <dgm:cxn modelId="{54054F66-992E-4C20-BD75-7B76B68FFE62}" type="presOf" srcId="{D7ED1947-EE68-437E-BD94-13FE270592DF}" destId="{39A0E4D0-6E10-40F8-A6D1-E920CF581796}" srcOrd="0" destOrd="0" presId="urn:microsoft.com/office/officeart/2005/8/layout/vList2"/>
    <dgm:cxn modelId="{5013CF66-DF58-473C-B3B8-77C67B7B346D}" type="presOf" srcId="{2D122BDC-045D-4109-902C-39A7400D1AE6}" destId="{39A0E4D0-6E10-40F8-A6D1-E920CF581796}" srcOrd="0" destOrd="4" presId="urn:microsoft.com/office/officeart/2005/8/layout/vList2"/>
    <dgm:cxn modelId="{35347848-5061-4CF9-93A6-7CF562D9D88B}" srcId="{2CE792ED-3E0C-4213-855D-7DCB78298DD8}" destId="{3A7A88CD-B402-477F-A307-3179E261BB16}" srcOrd="0" destOrd="0" parTransId="{5AA4F48B-AF41-41D5-A97F-758458ACC9A3}" sibTransId="{E3065A92-7B4B-4758-904A-463432320281}"/>
    <dgm:cxn modelId="{BE0FA74C-E63D-44EB-B93C-0726C4C72EBD}" srcId="{EAF4CEDB-DBE2-4217-A396-EFB402493220}" destId="{24252A16-F330-4B0E-ACBC-10C06DDD4432}" srcOrd="0" destOrd="0" parTransId="{D56E7648-561F-4DF9-8F42-552443BE5010}" sibTransId="{98CFB4AB-BC40-4A5C-B1A6-B2F09B0C29C2}"/>
    <dgm:cxn modelId="{67C12978-54F1-4937-BB02-E68933E087EE}" srcId="{2CE792ED-3E0C-4213-855D-7DCB78298DD8}" destId="{A430EE3A-A25C-4186-A661-7112DEC0F241}" srcOrd="1" destOrd="0" parTransId="{6D68F25B-6104-45C2-B602-109C61ED7F4D}" sibTransId="{2203D389-F2E0-4727-B7DE-96BD5541BA30}"/>
    <dgm:cxn modelId="{5B6E5486-7D3D-4641-8B5E-D797A5BCBD7D}" srcId="{BC960189-3CD2-45A4-94DC-E757E135C023}" destId="{E1BE9A73-1607-433F-821B-DD5C43A6E4E6}" srcOrd="1" destOrd="0" parTransId="{0DE5CCD5-3E14-4CF3-ABEF-7FDE5B106603}" sibTransId="{BFF1F3AB-0BDA-4A20-9967-B1AC0AA69229}"/>
    <dgm:cxn modelId="{BD4C3587-44F7-46C3-BF5B-75C9B807889F}" type="presOf" srcId="{92E22F99-B268-4D38-8333-9571A9C94483}" destId="{C0D15F9D-B092-49C6-BAB2-83741303D108}" srcOrd="0" destOrd="0" presId="urn:microsoft.com/office/officeart/2005/8/layout/vList2"/>
    <dgm:cxn modelId="{E423948C-E956-4DDC-B4F9-C4DB0AE6E08B}" srcId="{342518DD-84B1-457C-A69D-4A4279436CDF}" destId="{2CE792ED-3E0C-4213-855D-7DCB78298DD8}" srcOrd="1" destOrd="0" parTransId="{1DF334A5-4152-4595-80DF-4016FE3B1DDA}" sibTransId="{673BC621-BFC6-48E7-9C1E-2CAAEE6D64CD}"/>
    <dgm:cxn modelId="{62F41094-EFC0-4D58-82E8-4C87CB52EDFC}" srcId="{E1BE9A73-1607-433F-821B-DD5C43A6E4E6}" destId="{B8A1408C-ACF6-4650-8F89-60DFD2331D4A}" srcOrd="1" destOrd="0" parTransId="{CA380CBC-B509-4FD3-B024-684394DCE229}" sibTransId="{BC4D145A-4A9F-4217-A52A-967CD38CF11A}"/>
    <dgm:cxn modelId="{C70AAF9C-A696-4F81-BC95-75E8F029C538}" srcId="{2CE792ED-3E0C-4213-855D-7DCB78298DD8}" destId="{2D122BDC-045D-4109-902C-39A7400D1AE6}" srcOrd="2" destOrd="0" parTransId="{D733CFEF-9F64-4EE0-8329-094A7373AA1A}" sibTransId="{91EE6CA3-E7B2-4130-A8B0-49F521649D1A}"/>
    <dgm:cxn modelId="{2BABD8A5-5F32-4AD6-8E22-0AE55F87A333}" type="presOf" srcId="{A430EE3A-A25C-4186-A661-7112DEC0F241}" destId="{39A0E4D0-6E10-40F8-A6D1-E920CF581796}" srcOrd="0" destOrd="3" presId="urn:microsoft.com/office/officeart/2005/8/layout/vList2"/>
    <dgm:cxn modelId="{97FB9DAA-C7FF-4D8F-BC91-9FF273F2CDAC}" srcId="{E1BE9A73-1607-433F-821B-DD5C43A6E4E6}" destId="{F5DF34A7-59D5-4D5E-8299-05ACF3C371CD}" srcOrd="2" destOrd="0" parTransId="{71ED2795-7AD4-4D58-B847-08B1F863A68C}" sibTransId="{8CCFBC41-C197-4C91-9328-1D9D76CA505D}"/>
    <dgm:cxn modelId="{7C38AFAD-FA24-4B3F-8D76-64C3F66489B0}" type="presOf" srcId="{24252A16-F330-4B0E-ACBC-10C06DDD4432}" destId="{4BF38BDF-D245-40F6-BFDE-BCDFCC8515AA}" srcOrd="0" destOrd="0" presId="urn:microsoft.com/office/officeart/2005/8/layout/vList2"/>
    <dgm:cxn modelId="{E14B44B3-B8F0-407F-B337-29F478FD7C7D}" type="presOf" srcId="{2CE792ED-3E0C-4213-855D-7DCB78298DD8}" destId="{39A0E4D0-6E10-40F8-A6D1-E920CF581796}" srcOrd="0" destOrd="1" presId="urn:microsoft.com/office/officeart/2005/8/layout/vList2"/>
    <dgm:cxn modelId="{83012AB6-12B1-4E30-8B48-96982F4E7F6F}" type="presOf" srcId="{B8A1408C-ACF6-4650-8F89-60DFD2331D4A}" destId="{23F5FF49-1EE6-49E8-8E24-64503926EA5D}" srcOrd="0" destOrd="3" presId="urn:microsoft.com/office/officeart/2005/8/layout/vList2"/>
    <dgm:cxn modelId="{25947AB6-7E9E-4DAE-B29F-51BE42C342E4}" type="presOf" srcId="{A9346643-FB85-4C57-B0C2-82B0648F2919}" destId="{4BF38BDF-D245-40F6-BFDE-BCDFCC8515AA}" srcOrd="0" destOrd="4" presId="urn:microsoft.com/office/officeart/2005/8/layout/vList2"/>
    <dgm:cxn modelId="{0C089CBA-9916-4C65-89E3-9F715182C70B}" srcId="{E1BE9A73-1607-433F-821B-DD5C43A6E4E6}" destId="{31B240CC-B931-4D40-A076-FDE080CE12F3}" srcOrd="0" destOrd="0" parTransId="{1CEDC5CF-4D77-44D3-85DC-99EF0644EC33}" sibTransId="{23421E4B-EB97-4858-8EA1-AD64A8E8CC66}"/>
    <dgm:cxn modelId="{3CA816BD-E191-481C-9408-E67A447C8D01}" srcId="{BC960189-3CD2-45A4-94DC-E757E135C023}" destId="{84A81C64-442B-4FF0-BEE9-D00ACAEA2A5C}" srcOrd="0" destOrd="0" parTransId="{AB33F46D-195A-4A99-B923-6B614F9843E4}" sibTransId="{A0C27828-14F7-40BD-A413-15613FEDDBD9}"/>
    <dgm:cxn modelId="{27FC69BD-B995-4D14-80D5-236A0EFF8947}" type="presOf" srcId="{93D0E528-3488-4AA0-8C54-A320C9BBA89B}" destId="{4BF38BDF-D245-40F6-BFDE-BCDFCC8515AA}" srcOrd="0" destOrd="3" presId="urn:microsoft.com/office/officeart/2005/8/layout/vList2"/>
    <dgm:cxn modelId="{D6597BC1-4469-416F-8619-94E9483051ED}" type="presOf" srcId="{342518DD-84B1-457C-A69D-4A4279436CDF}" destId="{61A2E5D6-D0C4-41F3-A1EB-52BE31D58357}" srcOrd="0" destOrd="0" presId="urn:microsoft.com/office/officeart/2005/8/layout/vList2"/>
    <dgm:cxn modelId="{80A393CF-0B04-4AA4-A777-A847785BBC50}" srcId="{342518DD-84B1-457C-A69D-4A4279436CDF}" destId="{D7ED1947-EE68-437E-BD94-13FE270592DF}" srcOrd="0" destOrd="0" parTransId="{2971156B-8164-48EC-ACF8-C50696B360D8}" sibTransId="{11BCCBDB-7EAF-4CA0-B11B-923CE324B6CE}"/>
    <dgm:cxn modelId="{4E05BFD1-C891-4CAB-9930-61921C6B0011}" type="presOf" srcId="{31B240CC-B931-4D40-A076-FDE080CE12F3}" destId="{23F5FF49-1EE6-49E8-8E24-64503926EA5D}" srcOrd="0" destOrd="2" presId="urn:microsoft.com/office/officeart/2005/8/layout/vList2"/>
    <dgm:cxn modelId="{9F60DFD6-2AC4-4CA0-A95F-87272BE93845}" type="presOf" srcId="{BC960189-3CD2-45A4-94DC-E757E135C023}" destId="{B7B56766-E6D4-4E6F-9863-CB3AB72298AD}" srcOrd="0" destOrd="0" presId="urn:microsoft.com/office/officeart/2005/8/layout/vList2"/>
    <dgm:cxn modelId="{EA069BDD-969F-4BD6-B729-1297C46526A2}" type="presOf" srcId="{E1BE9A73-1607-433F-821B-DD5C43A6E4E6}" destId="{23F5FF49-1EE6-49E8-8E24-64503926EA5D}" srcOrd="0" destOrd="1" presId="urn:microsoft.com/office/officeart/2005/8/layout/vList2"/>
    <dgm:cxn modelId="{560FF5F0-0BA4-4C06-AB8C-E9DB45DAEE19}" type="presOf" srcId="{48AEF4B3-4016-47BE-BCD9-7963EF51FB4C}" destId="{4BF38BDF-D245-40F6-BFDE-BCDFCC8515AA}" srcOrd="0" destOrd="1" presId="urn:microsoft.com/office/officeart/2005/8/layout/vList2"/>
    <dgm:cxn modelId="{D28C3BF5-3449-4A76-BC38-64EE8981B091}" srcId="{92E22F99-B268-4D38-8333-9571A9C94483}" destId="{342518DD-84B1-457C-A69D-4A4279436CDF}" srcOrd="0" destOrd="0" parTransId="{67902DAE-30DF-4CDE-805D-28C50CC095F6}" sibTransId="{C69629C5-7F95-464B-BA4D-DB1330E5732C}"/>
    <dgm:cxn modelId="{878E83C3-7BDA-4221-A3C7-C7A78400DFA8}" type="presParOf" srcId="{C0D15F9D-B092-49C6-BAB2-83741303D108}" destId="{61A2E5D6-D0C4-41F3-A1EB-52BE31D58357}" srcOrd="0" destOrd="0" presId="urn:microsoft.com/office/officeart/2005/8/layout/vList2"/>
    <dgm:cxn modelId="{D7F68814-6633-49CF-ADE6-B5707CF4CAF9}" type="presParOf" srcId="{C0D15F9D-B092-49C6-BAB2-83741303D108}" destId="{39A0E4D0-6E10-40F8-A6D1-E920CF581796}" srcOrd="1" destOrd="0" presId="urn:microsoft.com/office/officeart/2005/8/layout/vList2"/>
    <dgm:cxn modelId="{FD8BED43-96BF-4F95-8D44-36789AC9A8A6}" type="presParOf" srcId="{C0D15F9D-B092-49C6-BAB2-83741303D108}" destId="{C9AE1EB8-AB00-493F-86D5-9CD35576372D}" srcOrd="2" destOrd="0" presId="urn:microsoft.com/office/officeart/2005/8/layout/vList2"/>
    <dgm:cxn modelId="{10BAD451-B5A3-4FE0-A4C3-1F42712AF055}" type="presParOf" srcId="{C0D15F9D-B092-49C6-BAB2-83741303D108}" destId="{4BF38BDF-D245-40F6-BFDE-BCDFCC8515AA}" srcOrd="3" destOrd="0" presId="urn:microsoft.com/office/officeart/2005/8/layout/vList2"/>
    <dgm:cxn modelId="{BC570697-E227-4003-B7B9-7B7D657BCB91}" type="presParOf" srcId="{C0D15F9D-B092-49C6-BAB2-83741303D108}" destId="{B7B56766-E6D4-4E6F-9863-CB3AB72298AD}" srcOrd="4" destOrd="0" presId="urn:microsoft.com/office/officeart/2005/8/layout/vList2"/>
    <dgm:cxn modelId="{A9CB5817-0CCD-4641-86C1-C633D48DC272}" type="presParOf" srcId="{C0D15F9D-B092-49C6-BAB2-83741303D108}" destId="{23F5FF49-1EE6-49E8-8E24-64503926EA5D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F0344-092C-4426-BA82-82B49BECF872}">
      <dsp:nvSpPr>
        <dsp:cNvPr id="0" name=""/>
        <dsp:cNvSpPr/>
      </dsp:nvSpPr>
      <dsp:spPr>
        <a:xfrm>
          <a:off x="5757" y="495584"/>
          <a:ext cx="2283750" cy="1704771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Has full access to all system functionalities and data, including inventory management, customer transactions, employee scheduling, and reporting.</a:t>
          </a:r>
          <a:endParaRPr lang="en-IN" sz="1200" kern="1200"/>
        </a:p>
      </dsp:txBody>
      <dsp:txXfrm>
        <a:off x="45702" y="535529"/>
        <a:ext cx="2203860" cy="1664826"/>
      </dsp:txXfrm>
    </dsp:sp>
    <dsp:sp modelId="{BD4A64D0-1645-4779-8EC6-089009E4A781}">
      <dsp:nvSpPr>
        <dsp:cNvPr id="0" name=""/>
        <dsp:cNvSpPr/>
      </dsp:nvSpPr>
      <dsp:spPr>
        <a:xfrm>
          <a:off x="5757" y="2200356"/>
          <a:ext cx="2283750" cy="7330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0" rIns="304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Admin: </a:t>
          </a:r>
          <a:endParaRPr lang="en-IN" sz="2400" kern="1200"/>
        </a:p>
      </dsp:txBody>
      <dsp:txXfrm>
        <a:off x="5757" y="2200356"/>
        <a:ext cx="1608275" cy="733051"/>
      </dsp:txXfrm>
    </dsp:sp>
    <dsp:sp modelId="{CD59B9FF-4783-479D-8153-F93C752A1F6A}">
      <dsp:nvSpPr>
        <dsp:cNvPr id="0" name=""/>
        <dsp:cNvSpPr/>
      </dsp:nvSpPr>
      <dsp:spPr>
        <a:xfrm>
          <a:off x="1534651" y="2264136"/>
          <a:ext cx="553707" cy="531686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0DF1E6-640A-4DC7-B19F-993BBABD4F3F}">
      <dsp:nvSpPr>
        <dsp:cNvPr id="0" name=""/>
        <dsp:cNvSpPr/>
      </dsp:nvSpPr>
      <dsp:spPr>
        <a:xfrm>
          <a:off x="2553171" y="461230"/>
          <a:ext cx="2283750" cy="1704771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Responsible for processing customer transactions, generating bills, and handling payments. Has limited access to customer data and inventory management functionalities.</a:t>
          </a:r>
          <a:endParaRPr lang="en-IN" sz="1200" kern="1200"/>
        </a:p>
      </dsp:txBody>
      <dsp:txXfrm>
        <a:off x="2593116" y="501175"/>
        <a:ext cx="2203860" cy="1664826"/>
      </dsp:txXfrm>
    </dsp:sp>
    <dsp:sp modelId="{06D4F9C0-4A88-4355-AB3A-665F21E4039C}">
      <dsp:nvSpPr>
        <dsp:cNvPr id="0" name=""/>
        <dsp:cNvSpPr/>
      </dsp:nvSpPr>
      <dsp:spPr>
        <a:xfrm>
          <a:off x="2553171" y="2166002"/>
          <a:ext cx="2283750" cy="7330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0" rIns="304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Cashier: </a:t>
          </a:r>
          <a:endParaRPr lang="en-IN" sz="2400" kern="1200"/>
        </a:p>
      </dsp:txBody>
      <dsp:txXfrm>
        <a:off x="2553171" y="2166002"/>
        <a:ext cx="1608275" cy="733051"/>
      </dsp:txXfrm>
    </dsp:sp>
    <dsp:sp modelId="{4234E2BE-E3D9-49C5-AE0B-FF01597B2551}">
      <dsp:nvSpPr>
        <dsp:cNvPr id="0" name=""/>
        <dsp:cNvSpPr/>
      </dsp:nvSpPr>
      <dsp:spPr>
        <a:xfrm>
          <a:off x="4170142" y="2197074"/>
          <a:ext cx="655316" cy="66910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1000" r="-1000"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A94497-8B12-4688-B0D9-115E16BE77E4}">
      <dsp:nvSpPr>
        <dsp:cNvPr id="0" name=""/>
        <dsp:cNvSpPr/>
      </dsp:nvSpPr>
      <dsp:spPr>
        <a:xfrm>
          <a:off x="5151389" y="473140"/>
          <a:ext cx="2283750" cy="1704771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Manages inventory-related tasks, including stock replenishment, inventory tracking, and receiving notifications about low stock levels. Has restricted access to customer data and billing information.</a:t>
          </a:r>
          <a:endParaRPr lang="en-IN" sz="1200" kern="1200"/>
        </a:p>
      </dsp:txBody>
      <dsp:txXfrm>
        <a:off x="5191334" y="513085"/>
        <a:ext cx="2203860" cy="1664826"/>
      </dsp:txXfrm>
    </dsp:sp>
    <dsp:sp modelId="{431C51AF-678C-43F2-BFA4-66C04C192B41}">
      <dsp:nvSpPr>
        <dsp:cNvPr id="0" name=""/>
        <dsp:cNvSpPr/>
      </dsp:nvSpPr>
      <dsp:spPr>
        <a:xfrm>
          <a:off x="5151389" y="2177911"/>
          <a:ext cx="2283750" cy="7330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0" rIns="3048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Inventory Manager: </a:t>
          </a:r>
          <a:endParaRPr lang="en-IN" sz="2400" kern="1200"/>
        </a:p>
      </dsp:txBody>
      <dsp:txXfrm>
        <a:off x="5151389" y="2177911"/>
        <a:ext cx="1608275" cy="733051"/>
      </dsp:txXfrm>
    </dsp:sp>
    <dsp:sp modelId="{567ED8D0-FAB9-4792-917A-140C61C0E089}">
      <dsp:nvSpPr>
        <dsp:cNvPr id="0" name=""/>
        <dsp:cNvSpPr/>
      </dsp:nvSpPr>
      <dsp:spPr>
        <a:xfrm>
          <a:off x="6768560" y="2249461"/>
          <a:ext cx="628235" cy="621465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5000" r="-5000"/>
          </a:stretch>
        </a:blip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2E5D6-D0C4-41F3-A1EB-52BE31D58357}">
      <dsp:nvSpPr>
        <dsp:cNvPr id="0" name=""/>
        <dsp:cNvSpPr/>
      </dsp:nvSpPr>
      <dsp:spPr>
        <a:xfrm>
          <a:off x="0" y="133520"/>
          <a:ext cx="7543800" cy="2878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Pharmacy Admin:</a:t>
          </a:r>
          <a:endParaRPr lang="en-IN" sz="1200" kern="1200"/>
        </a:p>
      </dsp:txBody>
      <dsp:txXfrm>
        <a:off x="14050" y="147570"/>
        <a:ext cx="7515700" cy="259719"/>
      </dsp:txXfrm>
    </dsp:sp>
    <dsp:sp modelId="{39A0E4D0-6E10-40F8-A6D1-E920CF581796}">
      <dsp:nvSpPr>
        <dsp:cNvPr id="0" name=""/>
        <dsp:cNvSpPr/>
      </dsp:nvSpPr>
      <dsp:spPr>
        <a:xfrm>
          <a:off x="0" y="421340"/>
          <a:ext cx="7543800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b="1" i="1" kern="1200" dirty="0"/>
            <a:t>Access Level: Full access to all database tables.</a:t>
          </a:r>
          <a:endParaRPr lang="en-IN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Type of Access:</a:t>
          </a:r>
          <a:endParaRPr lang="en-IN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Create: Can create new records in all tables.</a:t>
          </a:r>
          <a:endParaRPr lang="en-IN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Read: Can view data from all tables.</a:t>
          </a:r>
          <a:endParaRPr lang="en-IN" sz="900" kern="1200" dirty="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Update: Can modify existing records in all tables.</a:t>
          </a:r>
          <a:endParaRPr lang="en-IN" sz="900" kern="1200"/>
        </a:p>
      </dsp:txBody>
      <dsp:txXfrm>
        <a:off x="0" y="421340"/>
        <a:ext cx="7543800" cy="782460"/>
      </dsp:txXfrm>
    </dsp:sp>
    <dsp:sp modelId="{C9AE1EB8-AB00-493F-86D5-9CD35576372D}">
      <dsp:nvSpPr>
        <dsp:cNvPr id="0" name=""/>
        <dsp:cNvSpPr/>
      </dsp:nvSpPr>
      <dsp:spPr>
        <a:xfrm>
          <a:off x="0" y="1203800"/>
          <a:ext cx="7543800" cy="287819"/>
        </a:xfrm>
        <a:prstGeom prst="roundRect">
          <a:avLst/>
        </a:prstGeom>
        <a:solidFill>
          <a:schemeClr val="accent5">
            <a:hueOff val="1178392"/>
            <a:satOff val="-5635"/>
            <a:lumOff val="6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Cashier:</a:t>
          </a:r>
          <a:endParaRPr lang="en-IN" sz="1200" kern="1200"/>
        </a:p>
      </dsp:txBody>
      <dsp:txXfrm>
        <a:off x="14050" y="1217850"/>
        <a:ext cx="7515700" cy="259719"/>
      </dsp:txXfrm>
    </dsp:sp>
    <dsp:sp modelId="{4BF38BDF-D245-40F6-BFDE-BCDFCC8515AA}">
      <dsp:nvSpPr>
        <dsp:cNvPr id="0" name=""/>
        <dsp:cNvSpPr/>
      </dsp:nvSpPr>
      <dsp:spPr>
        <a:xfrm>
          <a:off x="0" y="1491620"/>
          <a:ext cx="7543800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b="1" i="1" kern="1200"/>
            <a:t>Access Level: Limited access primarily related to billing and customer data.</a:t>
          </a:r>
          <a:endParaRPr lang="en-IN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Type of Access:</a:t>
          </a:r>
          <a:endParaRPr lang="en-IN" sz="900" kern="1200" dirty="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Create: Can create new records in the ORDER_BILL, PAYMENT_BILL, CUSTOMER, PRESCRIPTION, and PRESCRIBED_DRUGS tables.</a:t>
          </a:r>
          <a:endParaRPr lang="en-IN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Read: Can view data from the ORDER_BILL, PAYMENT_BILL, CUSTOMER, PRESCRIPTION, and PRESCRIBED_DRUGS tables.</a:t>
          </a:r>
          <a:endParaRPr lang="en-IN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Update: Can modify existing records in the ORDER_BILL and PAYMENT_BILL tables.</a:t>
          </a:r>
          <a:endParaRPr lang="en-IN" sz="900" kern="1200" dirty="0"/>
        </a:p>
      </dsp:txBody>
      <dsp:txXfrm>
        <a:off x="0" y="1491620"/>
        <a:ext cx="7543800" cy="782460"/>
      </dsp:txXfrm>
    </dsp:sp>
    <dsp:sp modelId="{B7B56766-E6D4-4E6F-9863-CB3AB72298AD}">
      <dsp:nvSpPr>
        <dsp:cNvPr id="0" name=""/>
        <dsp:cNvSpPr/>
      </dsp:nvSpPr>
      <dsp:spPr>
        <a:xfrm>
          <a:off x="0" y="2274080"/>
          <a:ext cx="7543800" cy="287819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Inventory Manager:</a:t>
          </a:r>
          <a:endParaRPr lang="en-IN" sz="1200" kern="1200"/>
        </a:p>
      </dsp:txBody>
      <dsp:txXfrm>
        <a:off x="14050" y="2288130"/>
        <a:ext cx="7515700" cy="259719"/>
      </dsp:txXfrm>
    </dsp:sp>
    <dsp:sp modelId="{23F5FF49-1EE6-49E8-8E24-64503926EA5D}">
      <dsp:nvSpPr>
        <dsp:cNvPr id="0" name=""/>
        <dsp:cNvSpPr/>
      </dsp:nvSpPr>
      <dsp:spPr>
        <a:xfrm>
          <a:off x="0" y="2561900"/>
          <a:ext cx="7543800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15240" rIns="85344" bIns="1524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b="1" i="1" kern="1200"/>
            <a:t>Access Level: Limited access focused on inventory management.</a:t>
          </a:r>
          <a:endParaRPr lang="en-IN" sz="9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Type of Access:</a:t>
          </a:r>
          <a:endParaRPr lang="en-IN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 dirty="0"/>
            <a:t>Create: Can create new records in the INVENTORY and NOTIFICATION tables.</a:t>
          </a:r>
          <a:endParaRPr lang="en-IN" sz="900" kern="1200" dirty="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Read: Can view data from the INVENTORY and NOTIFICATION tables.</a:t>
          </a:r>
          <a:endParaRPr lang="en-IN" sz="900" kern="1200"/>
        </a:p>
        <a:p>
          <a:pPr marL="114300" lvl="2" indent="-57150" algn="l" defTabSz="400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900" kern="1200"/>
            <a:t>Update: Can modify existing records in the INVENTORY table.</a:t>
          </a:r>
          <a:endParaRPr lang="en-IN" sz="900" kern="1200"/>
        </a:p>
      </dsp:txBody>
      <dsp:txXfrm>
        <a:off x="0" y="2561900"/>
        <a:ext cx="7543800" cy="782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a395736c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a395736c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3235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a395736c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a395736c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6270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a395736c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a395736c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099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a04a1d97e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a04a1d97e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a04a1d97e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a04a1d97e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a04a1d97e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a04a1d97e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5099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a04a1d97e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a04a1d97e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317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a04a1d97e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a04a1d97e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50326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a395736c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a395736c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8227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a395736c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a395736c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5100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a395736c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a395736c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8684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a395736c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a395736c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751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a395736c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a395736c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7993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a04a1d97e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a04a1d97e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87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a395736c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a395736c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31572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a395736c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a395736c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80293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a04a1d97e3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a04a1d97e3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c6f980f9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c6f980f9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c6f980f9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c6f980f9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84840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a04a1d97e3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a04a1d97e3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5851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1568447"/>
            <a:ext cx="6801440" cy="19431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5400" b="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3511547"/>
            <a:ext cx="6803136" cy="3429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60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200"/>
            </a:lvl2pPr>
            <a:lvl3pPr marL="685800" indent="0" algn="ctr">
              <a:buNone/>
              <a:defRPr sz="12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89070" y="1005942"/>
            <a:ext cx="1165860" cy="395410"/>
          </a:xfrm>
        </p:spPr>
        <p:txBody>
          <a:bodyPr/>
          <a:lstStyle>
            <a:lvl1pPr algn="ctr">
              <a:defRPr sz="975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160EA64-D806-43AC-9DF2-F8C432F32B4C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090422" y="3908295"/>
            <a:ext cx="4429125" cy="17145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3909060"/>
            <a:ext cx="1583911" cy="1714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11191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85694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950797"/>
            <a:ext cx="7182197" cy="3230963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5850" y="1058711"/>
            <a:ext cx="6972300" cy="302607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851910" y="950798"/>
            <a:ext cx="1440180" cy="548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937635" y="950798"/>
            <a:ext cx="1268730" cy="483971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1570732"/>
            <a:ext cx="6803136" cy="1940814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5400" kern="1200" cap="all" spc="-75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3511547"/>
            <a:ext cx="6803136" cy="34290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effectLst/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91356" y="1008377"/>
            <a:ext cx="1165860" cy="397764"/>
          </a:xfrm>
        </p:spPr>
        <p:txBody>
          <a:bodyPr/>
          <a:lstStyle>
            <a:lvl1pPr algn="ctr">
              <a:defRPr lang="en-US" sz="975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160EA64-D806-43AC-9DF2-F8C432F32B4C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0165" y="3908295"/>
            <a:ext cx="4430268" cy="17145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3908295"/>
            <a:ext cx="1584198" cy="17145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18719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7740" y="1577340"/>
            <a:ext cx="3566160" cy="281178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072797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66924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0026" y="1555751"/>
            <a:ext cx="3566160" cy="48006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425" b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0026" y="2067436"/>
            <a:ext cx="3566160" cy="24003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988697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832587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49760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8308"/>
            <a:ext cx="6398514" cy="4786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5544"/>
            <a:ext cx="1823085" cy="1234440"/>
          </a:xfrm>
        </p:spPr>
        <p:txBody>
          <a:bodyPr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1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457200"/>
            <a:ext cx="5829300" cy="4000500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3085" cy="26289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4667252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2" name="Rectangle 11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899857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8308"/>
            <a:ext cx="2194560" cy="4786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452628"/>
            <a:ext cx="1824228" cy="1234440"/>
          </a:xfrm>
        </p:spPr>
        <p:txBody>
          <a:bodyPr anchor="b">
            <a:noAutofit/>
          </a:bodyPr>
          <a:lstStyle>
            <a:lvl1pPr algn="l">
              <a:defRPr sz="21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8308"/>
            <a:ext cx="6398514" cy="4786884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1714500"/>
            <a:ext cx="1824228" cy="262661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600"/>
              </a:spcBef>
              <a:buNone/>
              <a:defRPr sz="10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685800" rtl="0" eaLnBrk="1" latinLnBrk="0" hangingPunct="1">
              <a:defRPr lang="en-US" sz="75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4670298"/>
            <a:ext cx="1097280" cy="20574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0" name="Rectangle 9"/>
          <p:cNvSpPr/>
          <p:nvPr/>
        </p:nvSpPr>
        <p:spPr>
          <a:xfrm>
            <a:off x="6868160" y="281178"/>
            <a:ext cx="1988820" cy="4581144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618257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889978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571500"/>
            <a:ext cx="1771650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571500"/>
            <a:ext cx="6057900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310770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2718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171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8308"/>
            <a:ext cx="8791956" cy="4786884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481946"/>
            <a:ext cx="7543800" cy="1028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77340"/>
            <a:ext cx="75438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5740" y="4730754"/>
            <a:ext cx="205740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17470" y="4730754"/>
            <a:ext cx="390906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4730754"/>
            <a:ext cx="1097280" cy="20574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72106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prism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en-US" sz="36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37160" indent="-137160" algn="l" defTabSz="685800" rtl="0" eaLnBrk="1" latinLnBrk="0" hangingPunct="1">
        <a:lnSpc>
          <a:spcPct val="100000"/>
        </a:lnSpc>
        <a:spcBef>
          <a:spcPts val="675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100000"/>
        </a:lnSpc>
        <a:spcBef>
          <a:spcPts val="375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1200150" y="2286577"/>
            <a:ext cx="6743700" cy="105444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Pharmacy Management System</a:t>
            </a:r>
            <a:br>
              <a:rPr lang="en" sz="4000" dirty="0"/>
            </a:br>
            <a:br>
              <a:rPr lang="en" sz="4000" dirty="0"/>
            </a:br>
            <a:r>
              <a:rPr lang="en" sz="4000" dirty="0"/>
              <a:t>Team 10</a:t>
            </a:r>
            <a:endParaRPr sz="4000"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170432" y="3169576"/>
            <a:ext cx="6803136" cy="342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Project</a:t>
            </a:r>
            <a:endParaRPr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April 11, 2024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1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4294967295"/>
          </p:nvPr>
        </p:nvSpPr>
        <p:spPr>
          <a:xfrm>
            <a:off x="0" y="3108325"/>
            <a:ext cx="2176463" cy="4365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Akshay Datir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4294967295"/>
          </p:nvPr>
        </p:nvSpPr>
        <p:spPr>
          <a:xfrm>
            <a:off x="2375018" y="3071812"/>
            <a:ext cx="2176463" cy="4365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Anusha Poojary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4294967295"/>
          </p:nvPr>
        </p:nvSpPr>
        <p:spPr>
          <a:xfrm>
            <a:off x="4736744" y="3071813"/>
            <a:ext cx="2176462" cy="4365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Ayush Yadav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77" name="Google Shape;77;p14"/>
          <p:cNvSpPr txBox="1">
            <a:spLocks noGrp="1"/>
          </p:cNvSpPr>
          <p:nvPr>
            <p:ph type="body" idx="4294967295"/>
          </p:nvPr>
        </p:nvSpPr>
        <p:spPr>
          <a:xfrm>
            <a:off x="6794269" y="3114050"/>
            <a:ext cx="2176462" cy="4365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Sahil Mutha</a:t>
            </a:r>
            <a:endParaRPr sz="1700" dirty="0">
              <a:solidFill>
                <a:schemeClr val="dk1"/>
              </a:solidFill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1118175" y="3561938"/>
            <a:ext cx="270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" name="Google Shape;72;p14"/>
          <p:cNvCxnSpPr/>
          <p:nvPr/>
        </p:nvCxnSpPr>
        <p:spPr>
          <a:xfrm>
            <a:off x="3402140" y="3561938"/>
            <a:ext cx="270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" name="Google Shape;75;p14"/>
          <p:cNvCxnSpPr/>
          <p:nvPr/>
        </p:nvCxnSpPr>
        <p:spPr>
          <a:xfrm>
            <a:off x="5673019" y="3561938"/>
            <a:ext cx="270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" name="Google Shape;78;p14"/>
          <p:cNvCxnSpPr/>
          <p:nvPr/>
        </p:nvCxnSpPr>
        <p:spPr>
          <a:xfrm>
            <a:off x="7747050" y="3561938"/>
            <a:ext cx="270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26" name="Picture 2" descr="Profile photo of Akshay Datir">
            <a:extLst>
              <a:ext uri="{FF2B5EF4-FFF2-40B4-BE49-F238E27FC236}">
                <a16:creationId xmlns:a16="http://schemas.microsoft.com/office/drawing/2014/main" id="{380497E5-B065-BAE1-BBF2-30E4C1AB4E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0" t="8382" r="6804" b="16748"/>
          <a:stretch/>
        </p:blipFill>
        <p:spPr bwMode="auto">
          <a:xfrm>
            <a:off x="428789" y="1322003"/>
            <a:ext cx="1833698" cy="182338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file photo of Anusha Poojary">
            <a:extLst>
              <a:ext uri="{FF2B5EF4-FFF2-40B4-BE49-F238E27FC236}">
                <a16:creationId xmlns:a16="http://schemas.microsoft.com/office/drawing/2014/main" id="{63E8BB15-7DA9-12DD-2321-A5A6CDAD1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115" y="1275202"/>
            <a:ext cx="1833698" cy="183369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file photo of Sahil Mutha">
            <a:extLst>
              <a:ext uri="{FF2B5EF4-FFF2-40B4-BE49-F238E27FC236}">
                <a16:creationId xmlns:a16="http://schemas.microsoft.com/office/drawing/2014/main" id="{152940C1-6C82-B74B-E43E-37459BDE2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572" y="1211044"/>
            <a:ext cx="1897856" cy="189785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5B749A-5B7B-DA7B-39B5-66A763A5072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6812"/>
          <a:stretch/>
        </p:blipFill>
        <p:spPr>
          <a:xfrm>
            <a:off x="4949950" y="1311813"/>
            <a:ext cx="1645973" cy="176047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193288" y="178420"/>
            <a:ext cx="8772292" cy="1033346"/>
          </a:xfrm>
          <a:prstGeom prst="rect">
            <a:avLst/>
          </a:prstGeom>
          <a:solidFill>
            <a:srgbClr val="0C343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PROBLEM STATEMENT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F8C0B3-A200-8D2A-9A47-7F54E505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339447"/>
            <a:ext cx="7543800" cy="2948940"/>
          </a:xfrm>
        </p:spPr>
        <p:txBody>
          <a:bodyPr>
            <a:normAutofit/>
          </a:bodyPr>
          <a:lstStyle/>
          <a:p>
            <a:r>
              <a:rPr lang="en-US" sz="1400" dirty="0"/>
              <a:t>Pharmacies face challenges in managing inventory, customer transactions, and overall operations efficiently.</a:t>
            </a:r>
          </a:p>
          <a:p>
            <a:r>
              <a:rPr lang="en-US" sz="1400" dirty="0"/>
              <a:t>Manual processes in pharmacy management can lead to errors, delays, and inefficiencies.</a:t>
            </a:r>
          </a:p>
          <a:p>
            <a:r>
              <a:rPr lang="en-US" sz="1400" dirty="0"/>
              <a:t>Lack of automated systems makes it difficult to track inventory levels accurately, leading to stockouts or excess stock.</a:t>
            </a:r>
          </a:p>
          <a:p>
            <a:r>
              <a:rPr lang="en-US" sz="1400" dirty="0"/>
              <a:t>Customer service may be affected due to slow checkout processes and inadequate access to prescription information.</a:t>
            </a:r>
          </a:p>
          <a:p>
            <a:r>
              <a:rPr lang="en-US" sz="1400" dirty="0"/>
              <a:t>There is a need for a comprehensive solution to automate pharmacy management tasks and improve workflow efficiency.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0465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193288" y="178420"/>
            <a:ext cx="8772292" cy="1033346"/>
          </a:xfrm>
          <a:prstGeom prst="rect">
            <a:avLst/>
          </a:prstGeom>
          <a:solidFill>
            <a:srgbClr val="0C343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OBJECTIVES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F8C0B3-A200-8D2A-9A47-7F54E505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339447"/>
            <a:ext cx="7543800" cy="2948940"/>
          </a:xfrm>
        </p:spPr>
        <p:txBody>
          <a:bodyPr>
            <a:normAutofit lnSpcReduction="10000"/>
          </a:bodyPr>
          <a:lstStyle/>
          <a:p>
            <a:r>
              <a:rPr lang="en-US" sz="1400" dirty="0"/>
              <a:t>Streamline Pharmacy Operations: Develop a system that simplifies and automates various pharmacy processes, including inventory management, customer transactions, and employee scheduling.</a:t>
            </a:r>
          </a:p>
          <a:p>
            <a:r>
              <a:rPr lang="en-US" sz="1400" dirty="0"/>
              <a:t>Enhance Inventory Control: Implement robust inventory tracking mechanisms to ensure accurate stock levels, minimize wastage, and prevent stockouts.</a:t>
            </a:r>
          </a:p>
          <a:p>
            <a:r>
              <a:rPr lang="en-US" sz="1400" dirty="0"/>
              <a:t>Improve Customer Service: Enable faster checkout processes, provide easy access to prescription information, and maintain detailed customer records for personalized service.</a:t>
            </a:r>
          </a:p>
          <a:p>
            <a:r>
              <a:rPr lang="en-US" sz="1400" dirty="0"/>
              <a:t>Ensure Data Security: Implement role-based access control and encryption mechanisms to safeguard sensitive pharmacy and customer data.</a:t>
            </a:r>
          </a:p>
          <a:p>
            <a:r>
              <a:rPr lang="en-US" sz="1400" dirty="0"/>
              <a:t>Facilitate Reporting and Analysis: Develop views and reports to provide insights into inventory status, customer purchasing patterns, and financial performance.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93152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193288" y="178420"/>
            <a:ext cx="8772292" cy="1033346"/>
          </a:xfrm>
          <a:prstGeom prst="rect">
            <a:avLst/>
          </a:prstGeom>
          <a:solidFill>
            <a:srgbClr val="0C343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SOLUTION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F8C0B3-A200-8D2A-9A47-7F54E505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339447"/>
            <a:ext cx="7543800" cy="3477880"/>
          </a:xfrm>
        </p:spPr>
        <p:txBody>
          <a:bodyPr>
            <a:normAutofit/>
          </a:bodyPr>
          <a:lstStyle/>
          <a:p>
            <a:r>
              <a:rPr lang="en-US" sz="1400" dirty="0"/>
              <a:t>Implement a centralized database system to manage inventory, customer data, prescriptions, and employee information efficiently.</a:t>
            </a:r>
          </a:p>
          <a:p>
            <a:r>
              <a:rPr lang="en-US" sz="1400" dirty="0"/>
              <a:t>Develop user-friendly interfaces for pharmacy staff to input and access information easily, improving workflow efficiency.</a:t>
            </a:r>
          </a:p>
          <a:p>
            <a:r>
              <a:rPr lang="en-US" sz="1400" dirty="0"/>
              <a:t>Incorporate inventory management features to track stock levels, receive alerts for low inventory, and generate reports for restocking.</a:t>
            </a:r>
          </a:p>
          <a:p>
            <a:r>
              <a:rPr lang="en-US" sz="1400" dirty="0"/>
              <a:t>Ensure secure access control mechanisms to protect sensitive information and restrict unauthorized access, maintaining data privacy and confidentiality.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852015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 Diagram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F83AE4A-3340-48B6-A6A0-894AFBD2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E01491-B95D-411F-C9BF-1E489C9C5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31" y="0"/>
            <a:ext cx="795453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Flow Diagram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369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10F620-6A5A-BB16-E9A9-4AB294E00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52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Views and Reports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994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193288" y="178420"/>
            <a:ext cx="8772292" cy="1033346"/>
          </a:xfrm>
          <a:prstGeom prst="rect">
            <a:avLst/>
          </a:prstGeom>
          <a:solidFill>
            <a:srgbClr val="0C343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Low Inventory Drugs Status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F8C0B3-A200-8D2A-9A47-7F54E505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339447"/>
            <a:ext cx="7543800" cy="3477880"/>
          </a:xfrm>
        </p:spPr>
        <p:txBody>
          <a:bodyPr>
            <a:normAutofit lnSpcReduction="10000"/>
          </a:bodyPr>
          <a:lstStyle/>
          <a:p>
            <a:r>
              <a:rPr lang="en-US" sz="1400" b="1" dirty="0"/>
              <a:t>Objective: </a:t>
            </a:r>
            <a:r>
              <a:rPr lang="en-US" sz="1400" dirty="0"/>
              <a:t>To identify drugs running low in inventory based on a specified threshold quantity.</a:t>
            </a:r>
          </a:p>
          <a:p>
            <a:r>
              <a:rPr lang="en-US" sz="1400" b="1" dirty="0"/>
              <a:t>Justification: </a:t>
            </a:r>
            <a:r>
              <a:rPr lang="en-US" sz="1400" dirty="0"/>
              <a:t>Timely restocking prevents stockouts, ensuring uninterrupted availability for customers, thereby improving satisfaction and retention.</a:t>
            </a:r>
          </a:p>
          <a:p>
            <a:r>
              <a:rPr lang="en-US" sz="1400" b="1" dirty="0"/>
              <a:t>SQL Command/View:</a:t>
            </a:r>
          </a:p>
          <a:p>
            <a:pPr marL="205740" lvl="1" indent="0">
              <a:buNone/>
            </a:pPr>
            <a:r>
              <a:rPr lang="en-US" sz="1250" dirty="0"/>
              <a:t>CREATE OR REPLACE VIEW </a:t>
            </a:r>
            <a:r>
              <a:rPr lang="en-US" sz="1250" dirty="0" err="1"/>
              <a:t>Low_Inventory_Drugs</a:t>
            </a:r>
            <a:r>
              <a:rPr lang="en-US" sz="1250" dirty="0"/>
              <a:t> AS</a:t>
            </a:r>
          </a:p>
          <a:p>
            <a:pPr marL="205740" lvl="1" indent="0">
              <a:buNone/>
            </a:pPr>
            <a:r>
              <a:rPr lang="en-US" sz="1250" dirty="0"/>
              <a:t>SELECT DRUG_ID,</a:t>
            </a:r>
          </a:p>
          <a:p>
            <a:pPr marL="205740" lvl="1" indent="0">
              <a:buNone/>
            </a:pPr>
            <a:r>
              <a:rPr lang="en-US" sz="1250" dirty="0"/>
              <a:t>       DRUG_NAME,</a:t>
            </a:r>
          </a:p>
          <a:p>
            <a:pPr marL="205740" lvl="1" indent="0">
              <a:buNone/>
            </a:pPr>
            <a:r>
              <a:rPr lang="en-US" sz="1250" dirty="0"/>
              <a:t>       MANUFACTURER,</a:t>
            </a:r>
          </a:p>
          <a:p>
            <a:pPr marL="205740" lvl="1" indent="0">
              <a:buNone/>
            </a:pPr>
            <a:r>
              <a:rPr lang="en-US" sz="1250" dirty="0"/>
              <a:t>       INV_QUANTITY,</a:t>
            </a:r>
          </a:p>
          <a:p>
            <a:pPr marL="205740" lvl="1" indent="0">
              <a:buNone/>
            </a:pPr>
            <a:r>
              <a:rPr lang="en-US" sz="1250" dirty="0"/>
              <a:t>       THRESHOLD_QUANTITY</a:t>
            </a:r>
          </a:p>
          <a:p>
            <a:pPr marL="205740" lvl="1" indent="0">
              <a:buNone/>
            </a:pPr>
            <a:r>
              <a:rPr lang="en-US" sz="1250" dirty="0"/>
              <a:t>FROM INVENTORY</a:t>
            </a:r>
          </a:p>
          <a:p>
            <a:pPr marL="205740" lvl="1" indent="0">
              <a:buNone/>
            </a:pPr>
            <a:r>
              <a:rPr lang="en-US" sz="1250" dirty="0"/>
              <a:t>WHERE INV_QUANTITY &lt; THRESHOLD_QUANTITY</a:t>
            </a:r>
          </a:p>
          <a:p>
            <a:pPr marL="205740" lvl="1" indent="0">
              <a:buNone/>
            </a:pPr>
            <a:r>
              <a:rPr lang="en-US" sz="1250" dirty="0"/>
              <a:t>ORDER BY INV_QUANTITY ASC;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296402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193288" y="178420"/>
            <a:ext cx="8772292" cy="1033346"/>
          </a:xfrm>
          <a:prstGeom prst="rect">
            <a:avLst/>
          </a:prstGeom>
          <a:solidFill>
            <a:srgbClr val="0C343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Top-5 Customers By Order Value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F8C0B3-A200-8D2A-9A47-7F54E505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339447"/>
            <a:ext cx="7543800" cy="3477880"/>
          </a:xfrm>
        </p:spPr>
        <p:txBody>
          <a:bodyPr>
            <a:normAutofit fontScale="92500" lnSpcReduction="20000"/>
          </a:bodyPr>
          <a:lstStyle/>
          <a:p>
            <a:r>
              <a:rPr lang="en-US" sz="1400" b="1" dirty="0"/>
              <a:t>Objective: </a:t>
            </a:r>
            <a:r>
              <a:rPr lang="en-US" sz="1400" dirty="0"/>
              <a:t>To identify the top 5 customers based on their total order value.</a:t>
            </a:r>
          </a:p>
          <a:p>
            <a:r>
              <a:rPr lang="en-US" sz="1400" b="1" dirty="0"/>
              <a:t>Justification: </a:t>
            </a:r>
            <a:r>
              <a:rPr lang="en-US" sz="1400" dirty="0"/>
              <a:t>Recognizing high-value customers allows targeted marketing, enhancing loyalty and revenue.</a:t>
            </a:r>
          </a:p>
          <a:p>
            <a:r>
              <a:rPr lang="en-US" sz="1400" b="1" dirty="0"/>
              <a:t>SQL Command/View:</a:t>
            </a:r>
          </a:p>
          <a:p>
            <a:pPr marL="205740" lvl="1" indent="0">
              <a:buNone/>
            </a:pPr>
            <a:r>
              <a:rPr lang="en-US" sz="1250" dirty="0"/>
              <a:t>CREATE OR REPLACE VIEW Top_5_Customers_By_Order_Value AS</a:t>
            </a:r>
          </a:p>
          <a:p>
            <a:pPr marL="205740" lvl="1" indent="0">
              <a:buNone/>
            </a:pPr>
            <a:r>
              <a:rPr lang="en-US" sz="1250" dirty="0"/>
              <a:t>SELECT </a:t>
            </a:r>
            <a:r>
              <a:rPr lang="en-US" sz="1250" dirty="0" err="1"/>
              <a:t>c.CUSTOMER_ID</a:t>
            </a:r>
            <a:r>
              <a:rPr lang="en-US" sz="1250" dirty="0"/>
              <a:t>,</a:t>
            </a:r>
          </a:p>
          <a:p>
            <a:pPr marL="205740" lvl="1" indent="0">
              <a:buNone/>
            </a:pPr>
            <a:r>
              <a:rPr lang="en-US" sz="1250" dirty="0"/>
              <a:t>       </a:t>
            </a:r>
            <a:r>
              <a:rPr lang="en-US" sz="1250" dirty="0" err="1"/>
              <a:t>c.FIRST_NAME</a:t>
            </a:r>
            <a:r>
              <a:rPr lang="en-US" sz="1250" dirty="0"/>
              <a:t>,</a:t>
            </a:r>
          </a:p>
          <a:p>
            <a:pPr marL="205740" lvl="1" indent="0">
              <a:buNone/>
            </a:pPr>
            <a:r>
              <a:rPr lang="en-US" sz="1250" dirty="0"/>
              <a:t>       </a:t>
            </a:r>
            <a:r>
              <a:rPr lang="en-US" sz="1250" dirty="0" err="1"/>
              <a:t>c.LAST_NAME</a:t>
            </a:r>
            <a:r>
              <a:rPr lang="en-US" sz="1250" dirty="0"/>
              <a:t>,</a:t>
            </a:r>
          </a:p>
          <a:p>
            <a:pPr marL="205740" lvl="1" indent="0">
              <a:buNone/>
            </a:pPr>
            <a:r>
              <a:rPr lang="en-US" sz="1250" dirty="0"/>
              <a:t>       SUM(</a:t>
            </a:r>
            <a:r>
              <a:rPr lang="en-US" sz="1250" dirty="0" err="1"/>
              <a:t>pb.TOTAL_AMOUNT</a:t>
            </a:r>
            <a:r>
              <a:rPr lang="en-US" sz="1250" dirty="0"/>
              <a:t>) AS TOTAL_ORDER_VALUE</a:t>
            </a:r>
          </a:p>
          <a:p>
            <a:pPr marL="205740" lvl="1" indent="0">
              <a:buNone/>
            </a:pPr>
            <a:r>
              <a:rPr lang="en-US" sz="1250" dirty="0"/>
              <a:t>FROM CUSTOMER c</a:t>
            </a:r>
          </a:p>
          <a:p>
            <a:pPr marL="205740" lvl="1" indent="0">
              <a:buNone/>
            </a:pPr>
            <a:r>
              <a:rPr lang="en-US" sz="1250" dirty="0"/>
              <a:t>JOIN PRESCRIPTION p ON </a:t>
            </a:r>
            <a:r>
              <a:rPr lang="en-US" sz="1250" dirty="0" err="1"/>
              <a:t>c.CUSTOMER_ID</a:t>
            </a:r>
            <a:r>
              <a:rPr lang="en-US" sz="1250" dirty="0"/>
              <a:t> = </a:t>
            </a:r>
            <a:r>
              <a:rPr lang="en-US" sz="1250" dirty="0" err="1"/>
              <a:t>p.CUSTOMER_ID</a:t>
            </a:r>
            <a:endParaRPr lang="en-US" sz="1250" dirty="0"/>
          </a:p>
          <a:p>
            <a:pPr marL="205740" lvl="1" indent="0">
              <a:buNone/>
            </a:pPr>
            <a:r>
              <a:rPr lang="en-US" sz="1250" dirty="0"/>
              <a:t>JOIN ORDER_BILL </a:t>
            </a:r>
            <a:r>
              <a:rPr lang="en-US" sz="1250" dirty="0" err="1"/>
              <a:t>ob</a:t>
            </a:r>
            <a:r>
              <a:rPr lang="en-US" sz="1250" dirty="0"/>
              <a:t> ON </a:t>
            </a:r>
            <a:r>
              <a:rPr lang="en-US" sz="1250" dirty="0" err="1"/>
              <a:t>p.PRES_ID</a:t>
            </a:r>
            <a:r>
              <a:rPr lang="en-US" sz="1250" dirty="0"/>
              <a:t> = </a:t>
            </a:r>
            <a:r>
              <a:rPr lang="en-US" sz="1250" dirty="0" err="1"/>
              <a:t>ob.PRES_ID</a:t>
            </a:r>
            <a:endParaRPr lang="en-US" sz="1250" dirty="0"/>
          </a:p>
          <a:p>
            <a:pPr marL="205740" lvl="1" indent="0">
              <a:buNone/>
            </a:pPr>
            <a:r>
              <a:rPr lang="en-US" sz="1250" dirty="0"/>
              <a:t>JOIN PAYMENT_BILL pb ON </a:t>
            </a:r>
            <a:r>
              <a:rPr lang="en-US" sz="1250" dirty="0" err="1"/>
              <a:t>ob.ORDER_ID</a:t>
            </a:r>
            <a:r>
              <a:rPr lang="en-US" sz="1250" dirty="0"/>
              <a:t> = </a:t>
            </a:r>
            <a:r>
              <a:rPr lang="en-US" sz="1250" dirty="0" err="1"/>
              <a:t>pb.ORDER_ID</a:t>
            </a:r>
            <a:endParaRPr lang="en-US" sz="1250" dirty="0"/>
          </a:p>
          <a:p>
            <a:pPr marL="205740" lvl="1" indent="0">
              <a:buNone/>
            </a:pPr>
            <a:r>
              <a:rPr lang="en-US" sz="1250" dirty="0"/>
              <a:t>GROUP BY </a:t>
            </a:r>
            <a:r>
              <a:rPr lang="en-US" sz="1250" dirty="0" err="1"/>
              <a:t>c.CUSTOMER_ID</a:t>
            </a:r>
            <a:r>
              <a:rPr lang="en-US" sz="1250" dirty="0"/>
              <a:t>, </a:t>
            </a:r>
            <a:r>
              <a:rPr lang="en-US" sz="1250" dirty="0" err="1"/>
              <a:t>c.FIRST_NAME</a:t>
            </a:r>
            <a:r>
              <a:rPr lang="en-US" sz="1250" dirty="0"/>
              <a:t>, </a:t>
            </a:r>
            <a:r>
              <a:rPr lang="en-US" sz="1250" dirty="0" err="1"/>
              <a:t>c.LAST_NAME</a:t>
            </a:r>
            <a:r>
              <a:rPr lang="en-US" sz="1250" dirty="0"/>
              <a:t>, </a:t>
            </a:r>
            <a:r>
              <a:rPr lang="en-US" sz="1250" dirty="0" err="1"/>
              <a:t>c.CITY</a:t>
            </a:r>
            <a:endParaRPr lang="en-US" sz="1250" dirty="0"/>
          </a:p>
          <a:p>
            <a:pPr marL="205740" lvl="1" indent="0">
              <a:buNone/>
            </a:pPr>
            <a:r>
              <a:rPr lang="en-US" sz="1250" dirty="0"/>
              <a:t>ORDER BY TOTAL_ORDER_VALUE DESC</a:t>
            </a:r>
          </a:p>
          <a:p>
            <a:pPr marL="205740" lvl="1" indent="0">
              <a:buNone/>
            </a:pPr>
            <a:r>
              <a:rPr lang="en-US" sz="1250" dirty="0"/>
              <a:t>FETCH FIRST 5 ROWS ONLY;</a:t>
            </a:r>
            <a:endParaRPr lang="en-IN" sz="950" dirty="0"/>
          </a:p>
        </p:txBody>
      </p:sp>
    </p:spTree>
    <p:extLst>
      <p:ext uri="{BB962C8B-B14F-4D97-AF65-F5344CB8AC3E}">
        <p14:creationId xmlns:p14="http://schemas.microsoft.com/office/powerpoint/2010/main" val="3372054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193288" y="178420"/>
            <a:ext cx="8772292" cy="1033346"/>
          </a:xfrm>
          <a:prstGeom prst="rect">
            <a:avLst/>
          </a:prstGeom>
          <a:solidFill>
            <a:srgbClr val="0C343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Employee Duration and Salary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F8C0B3-A200-8D2A-9A47-7F54E505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339447"/>
            <a:ext cx="7543800" cy="3477880"/>
          </a:xfrm>
        </p:spPr>
        <p:txBody>
          <a:bodyPr>
            <a:normAutofit/>
          </a:bodyPr>
          <a:lstStyle/>
          <a:p>
            <a:r>
              <a:rPr lang="en-US" sz="1400" b="1" dirty="0"/>
              <a:t>Objective: </a:t>
            </a:r>
            <a:r>
              <a:rPr lang="en-US" sz="1400" dirty="0"/>
              <a:t>To display employee details along with their role, salary, and duration of employment.</a:t>
            </a:r>
          </a:p>
          <a:p>
            <a:r>
              <a:rPr lang="en-US" sz="1400" b="1" dirty="0"/>
              <a:t>Justification: </a:t>
            </a:r>
            <a:r>
              <a:rPr lang="en-US" sz="1400" dirty="0"/>
              <a:t>Understanding tenure and compensation aids in evaluating productivity and ensuring fair remuneration, boosting morale and retention.</a:t>
            </a:r>
          </a:p>
          <a:p>
            <a:r>
              <a:rPr lang="en-US" sz="1400" b="1" dirty="0"/>
              <a:t>SQL Command/View:</a:t>
            </a:r>
          </a:p>
          <a:p>
            <a:pPr marL="205740" lvl="1" indent="0">
              <a:buNone/>
            </a:pPr>
            <a:r>
              <a:rPr lang="en-US" sz="1250" dirty="0"/>
              <a:t>CREATE OR REPLACE VIEW EMPLOYEE_VIEW AS</a:t>
            </a:r>
          </a:p>
          <a:p>
            <a:pPr marL="205740" lvl="1" indent="0">
              <a:buNone/>
            </a:pPr>
            <a:r>
              <a:rPr lang="en-US" sz="1250" dirty="0"/>
              <a:t>SELECT E.FIRST_NAME,E.LAST_NAME,R.ROLE_NAME,E.SALARY,TRUNC(MONTHS_BETWEEN(NVL(E.END_DATE, SYSDATE), E.START_DATE) / 12) || '&amp;' || MOD(TRUNC(MONTHS_BETWEEN(NVL(E.END_DATE, SYSDATE), E.START_DATE)), 12) AS YEARS_MONTHS_WORKED</a:t>
            </a:r>
          </a:p>
          <a:p>
            <a:pPr marL="205740" lvl="1" indent="0">
              <a:buNone/>
            </a:pPr>
            <a:r>
              <a:rPr lang="en-US" sz="1250" dirty="0"/>
              <a:t>FROM EMPLOYEE E</a:t>
            </a:r>
          </a:p>
          <a:p>
            <a:pPr marL="205740" lvl="1" indent="0">
              <a:buNone/>
            </a:pPr>
            <a:r>
              <a:rPr lang="en-US" sz="1250" dirty="0"/>
              <a:t>JOIN ROLE R</a:t>
            </a:r>
          </a:p>
          <a:p>
            <a:pPr marL="205740" lvl="1" indent="0">
              <a:buNone/>
            </a:pPr>
            <a:r>
              <a:rPr lang="en-US" sz="1250" dirty="0"/>
              <a:t>ON E.ROLE_ID = R.ROLE_ID;</a:t>
            </a:r>
          </a:p>
        </p:txBody>
      </p:sp>
    </p:spTree>
    <p:extLst>
      <p:ext uri="{BB962C8B-B14F-4D97-AF65-F5344CB8AC3E}">
        <p14:creationId xmlns:p14="http://schemas.microsoft.com/office/powerpoint/2010/main" val="3767742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193288" y="178420"/>
            <a:ext cx="8772292" cy="1033346"/>
          </a:xfrm>
          <a:prstGeom prst="rect">
            <a:avLst/>
          </a:prstGeom>
          <a:solidFill>
            <a:srgbClr val="0C343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Customers Ordering Maximum Times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F8C0B3-A200-8D2A-9A47-7F54E505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1339447"/>
            <a:ext cx="7570749" cy="3477880"/>
          </a:xfrm>
        </p:spPr>
        <p:txBody>
          <a:bodyPr>
            <a:normAutofit fontScale="92500" lnSpcReduction="20000"/>
          </a:bodyPr>
          <a:lstStyle/>
          <a:p>
            <a:r>
              <a:rPr lang="en-US" sz="1400" b="1" dirty="0"/>
              <a:t>Objective: </a:t>
            </a:r>
            <a:r>
              <a:rPr lang="en-US" sz="1400" dirty="0"/>
              <a:t>To identify customers who have placed the maximum number of orders.</a:t>
            </a:r>
          </a:p>
          <a:p>
            <a:r>
              <a:rPr lang="en-US" sz="1400" b="1" dirty="0"/>
              <a:t>Justification: </a:t>
            </a:r>
            <a:r>
              <a:rPr lang="en-US" sz="1400" dirty="0"/>
              <a:t>Recognizing frequent customers helps tailor marketing strategies and loyalty programs, driving repeat business.</a:t>
            </a:r>
          </a:p>
          <a:p>
            <a:r>
              <a:rPr lang="en-US" sz="1400" b="1" dirty="0"/>
              <a:t>SQL Command/View:</a:t>
            </a:r>
          </a:p>
          <a:p>
            <a:pPr marL="205740" lvl="1" indent="0">
              <a:buNone/>
            </a:pPr>
            <a:r>
              <a:rPr lang="en-US" sz="1250" dirty="0"/>
              <a:t>CREATE OR REPLACE VIEW </a:t>
            </a:r>
            <a:r>
              <a:rPr lang="en-US" sz="1250" dirty="0" err="1"/>
              <a:t>Customers_With_Max_Orders</a:t>
            </a:r>
            <a:r>
              <a:rPr lang="en-US" sz="1250" dirty="0"/>
              <a:t> AS</a:t>
            </a:r>
          </a:p>
          <a:p>
            <a:pPr marL="205740" lvl="1" indent="0">
              <a:buNone/>
            </a:pPr>
            <a:r>
              <a:rPr lang="en-US" sz="1250" dirty="0"/>
              <a:t>SELECT </a:t>
            </a:r>
            <a:r>
              <a:rPr lang="en-US" sz="1250" dirty="0" err="1"/>
              <a:t>c.CUSTOMER_ID</a:t>
            </a:r>
            <a:r>
              <a:rPr lang="en-US" sz="1250" dirty="0"/>
              <a:t>,</a:t>
            </a:r>
          </a:p>
          <a:p>
            <a:pPr marL="205740" lvl="1" indent="0">
              <a:buNone/>
            </a:pPr>
            <a:r>
              <a:rPr lang="en-US" sz="1250" dirty="0"/>
              <a:t>       </a:t>
            </a:r>
            <a:r>
              <a:rPr lang="en-US" sz="1250" dirty="0" err="1"/>
              <a:t>c.FIRST_NAME</a:t>
            </a:r>
            <a:r>
              <a:rPr lang="en-US" sz="1250" dirty="0"/>
              <a:t>,</a:t>
            </a:r>
          </a:p>
          <a:p>
            <a:pPr marL="205740" lvl="1" indent="0">
              <a:buNone/>
            </a:pPr>
            <a:r>
              <a:rPr lang="en-US" sz="1250" dirty="0"/>
              <a:t>       </a:t>
            </a:r>
            <a:r>
              <a:rPr lang="en-US" sz="1250" dirty="0" err="1"/>
              <a:t>c.LAST_NAME</a:t>
            </a:r>
            <a:r>
              <a:rPr lang="en-US" sz="1250" dirty="0"/>
              <a:t>,</a:t>
            </a:r>
          </a:p>
          <a:p>
            <a:pPr marL="205740" lvl="1" indent="0">
              <a:buNone/>
            </a:pPr>
            <a:r>
              <a:rPr lang="en-US" sz="1250" dirty="0"/>
              <a:t>       </a:t>
            </a:r>
            <a:r>
              <a:rPr lang="en-US" sz="1250" dirty="0" err="1"/>
              <a:t>c.CITY</a:t>
            </a:r>
            <a:r>
              <a:rPr lang="en-US" sz="1250" dirty="0"/>
              <a:t>,</a:t>
            </a:r>
          </a:p>
          <a:p>
            <a:pPr marL="205740" lvl="1" indent="0">
              <a:buNone/>
            </a:pPr>
            <a:r>
              <a:rPr lang="en-US" sz="1250" dirty="0"/>
              <a:t>       COUNT(</a:t>
            </a:r>
            <a:r>
              <a:rPr lang="en-US" sz="1250" dirty="0" err="1"/>
              <a:t>p.PRES_ID</a:t>
            </a:r>
            <a:r>
              <a:rPr lang="en-US" sz="1250" dirty="0"/>
              <a:t>) AS NUM_ORDERS</a:t>
            </a:r>
          </a:p>
          <a:p>
            <a:pPr marL="205740" lvl="1" indent="0">
              <a:buNone/>
            </a:pPr>
            <a:r>
              <a:rPr lang="en-US" sz="1250" dirty="0"/>
              <a:t>FROM CUSTOMER c</a:t>
            </a:r>
          </a:p>
          <a:p>
            <a:pPr marL="205740" lvl="1" indent="0">
              <a:buNone/>
            </a:pPr>
            <a:r>
              <a:rPr lang="en-US" sz="1250" dirty="0"/>
              <a:t>JOIN PRESCRIPTION p ON </a:t>
            </a:r>
            <a:r>
              <a:rPr lang="en-US" sz="1250" dirty="0" err="1"/>
              <a:t>c.CUSTOMER_ID</a:t>
            </a:r>
            <a:r>
              <a:rPr lang="en-US" sz="1250" dirty="0"/>
              <a:t> = </a:t>
            </a:r>
            <a:r>
              <a:rPr lang="en-US" sz="1250" dirty="0" err="1"/>
              <a:t>p.CUSTOMER_ID</a:t>
            </a:r>
            <a:endParaRPr lang="en-US" sz="1250" dirty="0"/>
          </a:p>
          <a:p>
            <a:pPr marL="205740" lvl="1" indent="0">
              <a:buNone/>
            </a:pPr>
            <a:r>
              <a:rPr lang="en-US" sz="1250" dirty="0"/>
              <a:t>JOIN ORDER_BILL </a:t>
            </a:r>
            <a:r>
              <a:rPr lang="en-US" sz="1250" dirty="0" err="1"/>
              <a:t>ob</a:t>
            </a:r>
            <a:r>
              <a:rPr lang="en-US" sz="1250" dirty="0"/>
              <a:t> ON </a:t>
            </a:r>
            <a:r>
              <a:rPr lang="en-US" sz="1250" dirty="0" err="1"/>
              <a:t>p.PRES_ID</a:t>
            </a:r>
            <a:r>
              <a:rPr lang="en-US" sz="1250" dirty="0"/>
              <a:t> = </a:t>
            </a:r>
            <a:r>
              <a:rPr lang="en-US" sz="1250" dirty="0" err="1"/>
              <a:t>ob.PRES_ID</a:t>
            </a:r>
            <a:endParaRPr lang="en-US" sz="1250" dirty="0"/>
          </a:p>
          <a:p>
            <a:pPr marL="205740" lvl="1" indent="0">
              <a:buNone/>
            </a:pPr>
            <a:r>
              <a:rPr lang="en-US" sz="1250" dirty="0"/>
              <a:t>GROUP BY </a:t>
            </a:r>
            <a:r>
              <a:rPr lang="en-US" sz="1250" dirty="0" err="1"/>
              <a:t>c.CUSTOMER_ID</a:t>
            </a:r>
            <a:r>
              <a:rPr lang="en-US" sz="1250" dirty="0"/>
              <a:t>, </a:t>
            </a:r>
            <a:r>
              <a:rPr lang="en-US" sz="1250" dirty="0" err="1"/>
              <a:t>c.FIRST_NAME</a:t>
            </a:r>
            <a:r>
              <a:rPr lang="en-US" sz="1250" dirty="0"/>
              <a:t>, </a:t>
            </a:r>
            <a:r>
              <a:rPr lang="en-US" sz="1250" dirty="0" err="1"/>
              <a:t>c.LAST_NAME</a:t>
            </a:r>
            <a:r>
              <a:rPr lang="en-US" sz="1250" dirty="0"/>
              <a:t>, </a:t>
            </a:r>
            <a:r>
              <a:rPr lang="en-US" sz="1250" dirty="0" err="1"/>
              <a:t>c.CITY</a:t>
            </a:r>
            <a:endParaRPr lang="en-US" sz="1250" dirty="0"/>
          </a:p>
          <a:p>
            <a:pPr marL="205740" lvl="1" indent="0">
              <a:buNone/>
            </a:pPr>
            <a:r>
              <a:rPr lang="en-US" sz="1250" dirty="0"/>
              <a:t>HAVING COUNT(</a:t>
            </a:r>
            <a:r>
              <a:rPr lang="en-US" sz="1250" dirty="0" err="1"/>
              <a:t>p.PRES_ID</a:t>
            </a:r>
            <a:r>
              <a:rPr lang="en-US" sz="1250" dirty="0"/>
              <a:t>) = (</a:t>
            </a:r>
          </a:p>
          <a:p>
            <a:pPr marL="205740" lvl="1" indent="0">
              <a:buNone/>
            </a:pPr>
            <a:r>
              <a:rPr lang="en-US" sz="1250" dirty="0"/>
              <a:t>    SELECT MAX(</a:t>
            </a:r>
            <a:r>
              <a:rPr lang="en-US" sz="1250" dirty="0" err="1"/>
              <a:t>order_count</a:t>
            </a:r>
            <a:r>
              <a:rPr lang="en-US" sz="125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E14683-9BC5-40B8-C6B3-EA547D66C0BD}"/>
              </a:ext>
            </a:extLst>
          </p:cNvPr>
          <p:cNvSpPr txBox="1"/>
          <p:nvPr/>
        </p:nvSpPr>
        <p:spPr>
          <a:xfrm>
            <a:off x="5768898" y="2059258"/>
            <a:ext cx="37988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05740" lvl="1" indent="0">
              <a:buNone/>
            </a:pPr>
            <a:r>
              <a:rPr lang="en-US" sz="1200" dirty="0"/>
              <a:t> FROM (</a:t>
            </a:r>
          </a:p>
          <a:p>
            <a:pPr marL="205740" lvl="1" indent="0">
              <a:buNone/>
            </a:pPr>
            <a:r>
              <a:rPr lang="en-US" sz="1200" dirty="0"/>
              <a:t>        SELECT COUNT(</a:t>
            </a:r>
            <a:r>
              <a:rPr lang="en-US" sz="1200" dirty="0" err="1"/>
              <a:t>p.PRES_ID</a:t>
            </a:r>
            <a:r>
              <a:rPr lang="en-US" sz="1200" dirty="0"/>
              <a:t>) AS </a:t>
            </a:r>
            <a:r>
              <a:rPr lang="en-US" sz="1200" dirty="0" err="1"/>
              <a:t>order_count</a:t>
            </a:r>
            <a:endParaRPr lang="en-US" sz="1200" dirty="0"/>
          </a:p>
          <a:p>
            <a:pPr marL="205740" lvl="1" indent="0">
              <a:buNone/>
            </a:pPr>
            <a:r>
              <a:rPr lang="en-US" sz="1200" dirty="0"/>
              <a:t>        FROM PRESCRIPTION p</a:t>
            </a:r>
          </a:p>
          <a:p>
            <a:pPr marL="205740" lvl="1" indent="0">
              <a:buNone/>
            </a:pPr>
            <a:r>
              <a:rPr lang="en-US" sz="1200" dirty="0"/>
              <a:t>        GROUP BY </a:t>
            </a:r>
            <a:r>
              <a:rPr lang="en-US" sz="1200" dirty="0" err="1"/>
              <a:t>p.CUSTOMER_ID</a:t>
            </a:r>
            <a:endParaRPr lang="en-US" sz="1200" dirty="0"/>
          </a:p>
          <a:p>
            <a:pPr marL="205740" lvl="1" indent="0">
              <a:buNone/>
            </a:pPr>
            <a:r>
              <a:rPr lang="en-US" sz="1200" dirty="0"/>
              <a:t>    )</a:t>
            </a:r>
          </a:p>
          <a:p>
            <a:pPr marL="205740" lvl="1" indent="0">
              <a:buNone/>
            </a:pPr>
            <a:r>
              <a:rPr lang="en-US" sz="1200" dirty="0"/>
              <a:t>)</a:t>
            </a:r>
          </a:p>
          <a:p>
            <a:pPr marL="205740" lvl="1" indent="0">
              <a:buNone/>
            </a:pPr>
            <a:r>
              <a:rPr lang="en-US" sz="1200" dirty="0"/>
              <a:t>ORDER BY NUM_ORDERS DESC;</a:t>
            </a:r>
            <a:endParaRPr lang="en-IN" sz="12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FBC12C-0F00-456C-B10C-52F6CD43866D}"/>
              </a:ext>
            </a:extLst>
          </p:cNvPr>
          <p:cNvCxnSpPr/>
          <p:nvPr/>
        </p:nvCxnSpPr>
        <p:spPr>
          <a:xfrm>
            <a:off x="5954751" y="1858537"/>
            <a:ext cx="0" cy="295879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383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193288" y="178420"/>
            <a:ext cx="8772292" cy="1033346"/>
          </a:xfrm>
          <a:prstGeom prst="rect">
            <a:avLst/>
          </a:prstGeom>
          <a:solidFill>
            <a:srgbClr val="0C343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Top-performing Employees in Terms of Sales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F8C0B3-A200-8D2A-9A47-7F54E505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339447"/>
            <a:ext cx="7543800" cy="3477880"/>
          </a:xfrm>
        </p:spPr>
        <p:txBody>
          <a:bodyPr>
            <a:normAutofit lnSpcReduction="10000"/>
          </a:bodyPr>
          <a:lstStyle/>
          <a:p>
            <a:r>
              <a:rPr lang="en-US" sz="1400" b="1" dirty="0"/>
              <a:t>Objective: </a:t>
            </a:r>
            <a:r>
              <a:rPr lang="en-US" sz="1400" dirty="0"/>
              <a:t>To highlight employees who have generated the highest sales revenue.</a:t>
            </a:r>
          </a:p>
          <a:p>
            <a:r>
              <a:rPr lang="en-US" sz="1400" b="1" dirty="0"/>
              <a:t>Justification: </a:t>
            </a:r>
            <a:r>
              <a:rPr lang="en-US" sz="1400" dirty="0"/>
              <a:t>Recognizing top-performing employees informs incentive programs and evaluations, motivating target achievement and revenue growth.</a:t>
            </a:r>
          </a:p>
          <a:p>
            <a:r>
              <a:rPr lang="en-US" sz="1400" b="1" dirty="0"/>
              <a:t>SQL Command/View:</a:t>
            </a:r>
          </a:p>
          <a:p>
            <a:pPr marL="205740" lvl="1" indent="0">
              <a:buNone/>
            </a:pPr>
            <a:r>
              <a:rPr lang="en-US" sz="1250" dirty="0"/>
              <a:t>CREATE OR REPLACE VIEW </a:t>
            </a:r>
            <a:r>
              <a:rPr lang="en-US" sz="1250" dirty="0" err="1"/>
              <a:t>Employee_Sales_Summary</a:t>
            </a:r>
            <a:r>
              <a:rPr lang="en-US" sz="1250" dirty="0"/>
              <a:t> AS</a:t>
            </a:r>
          </a:p>
          <a:p>
            <a:pPr marL="205740" lvl="1" indent="0">
              <a:buNone/>
            </a:pPr>
            <a:r>
              <a:rPr lang="en-US" sz="1250" dirty="0"/>
              <a:t>SELECT </a:t>
            </a:r>
            <a:r>
              <a:rPr lang="en-US" sz="1250" dirty="0" err="1"/>
              <a:t>e.EMP_ID</a:t>
            </a:r>
            <a:r>
              <a:rPr lang="en-US" sz="1250" dirty="0"/>
              <a:t>,</a:t>
            </a:r>
          </a:p>
          <a:p>
            <a:pPr marL="205740" lvl="1" indent="0">
              <a:buNone/>
            </a:pPr>
            <a:r>
              <a:rPr lang="en-US" sz="1250" dirty="0"/>
              <a:t>       </a:t>
            </a:r>
            <a:r>
              <a:rPr lang="en-US" sz="1250" dirty="0" err="1"/>
              <a:t>e.FIRST_NAME</a:t>
            </a:r>
            <a:r>
              <a:rPr lang="en-US" sz="1250" dirty="0"/>
              <a:t>,</a:t>
            </a:r>
          </a:p>
          <a:p>
            <a:pPr marL="205740" lvl="1" indent="0">
              <a:buNone/>
            </a:pPr>
            <a:r>
              <a:rPr lang="en-US" sz="1250" dirty="0"/>
              <a:t>       </a:t>
            </a:r>
            <a:r>
              <a:rPr lang="en-US" sz="1250" dirty="0" err="1"/>
              <a:t>e.LAST_NAME</a:t>
            </a:r>
            <a:r>
              <a:rPr lang="en-US" sz="1250" dirty="0"/>
              <a:t>,</a:t>
            </a:r>
          </a:p>
          <a:p>
            <a:pPr marL="205740" lvl="1" indent="0">
              <a:buNone/>
            </a:pPr>
            <a:r>
              <a:rPr lang="en-US" sz="1250" dirty="0"/>
              <a:t>       SUM(</a:t>
            </a:r>
            <a:r>
              <a:rPr lang="en-US" sz="1250" dirty="0" err="1"/>
              <a:t>pb.TOTAL_AMOUNT</a:t>
            </a:r>
            <a:r>
              <a:rPr lang="en-US" sz="1250" dirty="0"/>
              <a:t>) AS TOTAL_SALES_AMOUNT</a:t>
            </a:r>
          </a:p>
          <a:p>
            <a:pPr marL="205740" lvl="1" indent="0">
              <a:buNone/>
            </a:pPr>
            <a:r>
              <a:rPr lang="en-US" sz="1250" dirty="0"/>
              <a:t>FROM EMPLOYEE e</a:t>
            </a:r>
          </a:p>
          <a:p>
            <a:pPr marL="205740" lvl="1" indent="0">
              <a:buNone/>
            </a:pPr>
            <a:r>
              <a:rPr lang="en-US" sz="1250" dirty="0"/>
              <a:t>JOIN ORDER_BILL </a:t>
            </a:r>
            <a:r>
              <a:rPr lang="en-US" sz="1250" dirty="0" err="1"/>
              <a:t>ob</a:t>
            </a:r>
            <a:r>
              <a:rPr lang="en-US" sz="1250" dirty="0"/>
              <a:t> ON </a:t>
            </a:r>
            <a:r>
              <a:rPr lang="en-US" sz="1250" dirty="0" err="1"/>
              <a:t>e.EMP_ID</a:t>
            </a:r>
            <a:r>
              <a:rPr lang="en-US" sz="1250" dirty="0"/>
              <a:t> = </a:t>
            </a:r>
            <a:r>
              <a:rPr lang="en-US" sz="1250" dirty="0" err="1"/>
              <a:t>ob.EMP_ID</a:t>
            </a:r>
            <a:endParaRPr lang="en-US" sz="1250" dirty="0"/>
          </a:p>
          <a:p>
            <a:pPr marL="205740" lvl="1" indent="0">
              <a:buNone/>
            </a:pPr>
            <a:r>
              <a:rPr lang="en-US" sz="1250" dirty="0"/>
              <a:t>JOIN PAYMENT_BILL pb ON </a:t>
            </a:r>
            <a:r>
              <a:rPr lang="en-US" sz="1250" dirty="0" err="1"/>
              <a:t>ob.ORDER_ID</a:t>
            </a:r>
            <a:r>
              <a:rPr lang="en-US" sz="1250" dirty="0"/>
              <a:t> = </a:t>
            </a:r>
            <a:r>
              <a:rPr lang="en-US" sz="1250" dirty="0" err="1"/>
              <a:t>pb.ORDER_ID</a:t>
            </a:r>
            <a:endParaRPr lang="en-US" sz="1250" dirty="0"/>
          </a:p>
          <a:p>
            <a:pPr marL="205740" lvl="1" indent="0">
              <a:buNone/>
            </a:pPr>
            <a:r>
              <a:rPr lang="en-US" sz="1250" dirty="0"/>
              <a:t>GROUP BY </a:t>
            </a:r>
            <a:r>
              <a:rPr lang="en-US" sz="1250" dirty="0" err="1"/>
              <a:t>e.EMP_ID</a:t>
            </a:r>
            <a:r>
              <a:rPr lang="en-US" sz="1250" dirty="0"/>
              <a:t>, </a:t>
            </a:r>
            <a:r>
              <a:rPr lang="en-US" sz="1250" dirty="0" err="1"/>
              <a:t>e.FIRST_NAME</a:t>
            </a:r>
            <a:r>
              <a:rPr lang="en-US" sz="1250" dirty="0"/>
              <a:t>, </a:t>
            </a:r>
            <a:r>
              <a:rPr lang="en-US" sz="1250" dirty="0" err="1"/>
              <a:t>e.LAST_NAME</a:t>
            </a:r>
            <a:endParaRPr lang="en-US" sz="1250" dirty="0"/>
          </a:p>
          <a:p>
            <a:pPr marL="205740" lvl="1" indent="0">
              <a:buNone/>
            </a:pPr>
            <a:r>
              <a:rPr lang="en-US" sz="1250" dirty="0"/>
              <a:t>ORDER BY TOTAL_SALES_AMOUNT DESC;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59778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513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193288" y="178420"/>
            <a:ext cx="8772292" cy="1033346"/>
          </a:xfrm>
          <a:prstGeom prst="rect">
            <a:avLst/>
          </a:prstGeom>
          <a:solidFill>
            <a:srgbClr val="0C343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USER ROLES</a:t>
            </a:r>
            <a:endParaRPr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44BC56-945A-FD0C-7FA6-7A82965333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71842"/>
              </p:ext>
            </p:extLst>
          </p:nvPr>
        </p:nvGraphicFramePr>
        <p:xfrm>
          <a:off x="800100" y="1339447"/>
          <a:ext cx="7543800" cy="3477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38517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193288" y="178420"/>
            <a:ext cx="8772292" cy="1033346"/>
          </a:xfrm>
          <a:prstGeom prst="rect">
            <a:avLst/>
          </a:prstGeom>
          <a:solidFill>
            <a:srgbClr val="0C343D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SECURITY AND PERMISSIONS</a:t>
            </a:r>
            <a:endParaRPr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81F1147-72E6-0E83-CE39-E09059BE7C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821619"/>
              </p:ext>
            </p:extLst>
          </p:nvPr>
        </p:nvGraphicFramePr>
        <p:xfrm>
          <a:off x="800100" y="1339447"/>
          <a:ext cx="7543800" cy="3477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1053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Contribution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>
            <a:spLocks noGrp="1"/>
          </p:cNvSpPr>
          <p:nvPr>
            <p:ph type="body" idx="2"/>
          </p:nvPr>
        </p:nvSpPr>
        <p:spPr>
          <a:xfrm>
            <a:off x="4572000" y="236617"/>
            <a:ext cx="3837000" cy="22717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 dirty="0">
                <a:solidFill>
                  <a:schemeClr val="tx1"/>
                </a:solidFill>
              </a:rPr>
              <a:t>Create Tables</a:t>
            </a:r>
            <a:endParaRPr sz="1100" dirty="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 dirty="0">
                <a:solidFill>
                  <a:schemeClr val="tx1"/>
                </a:solidFill>
              </a:rPr>
              <a:t>User &amp; Role Creation </a:t>
            </a:r>
            <a:endParaRPr sz="1600" dirty="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 dirty="0">
                <a:solidFill>
                  <a:schemeClr val="tx1"/>
                </a:solidFill>
              </a:rPr>
              <a:t>Reports &amp; Views creation</a:t>
            </a:r>
            <a:endParaRPr sz="1600" dirty="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 dirty="0">
                <a:solidFill>
                  <a:schemeClr val="tx1"/>
                </a:solidFill>
              </a:rPr>
              <a:t>Triggers</a:t>
            </a:r>
          </a:p>
          <a:p>
            <a:pPr indent="-330200">
              <a:buSzPts val="1600"/>
              <a:buFont typeface="Garamond" pitchFamily="18" charset="0"/>
              <a:buChar char="➢"/>
            </a:pPr>
            <a:r>
              <a:rPr lang="en-IN" sz="1600" dirty="0">
                <a:solidFill>
                  <a:schemeClr val="tx1"/>
                </a:solidFill>
              </a:rPr>
              <a:t>QA Testing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600" dirty="0"/>
          </a:p>
        </p:txBody>
      </p:sp>
      <p:sp>
        <p:nvSpPr>
          <p:cNvPr id="4" name="Google Shape;68;p14">
            <a:extLst>
              <a:ext uri="{FF2B5EF4-FFF2-40B4-BE49-F238E27FC236}">
                <a16:creationId xmlns:a16="http://schemas.microsoft.com/office/drawing/2014/main" id="{4BF16D7D-81C1-9E91-0C7A-5668F12279B3}"/>
              </a:ext>
            </a:extLst>
          </p:cNvPr>
          <p:cNvSpPr txBox="1">
            <a:spLocks/>
          </p:cNvSpPr>
          <p:nvPr/>
        </p:nvSpPr>
        <p:spPr>
          <a:xfrm>
            <a:off x="1523991" y="2022939"/>
            <a:ext cx="2176463" cy="436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37160" indent="-137160" algn="l" defTabSz="685800" rtl="0" eaLnBrk="1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600"/>
              </a:spcAft>
              <a:buFont typeface="Garamond" pitchFamily="18" charset="0"/>
              <a:buNone/>
            </a:pPr>
            <a:r>
              <a:rPr lang="en-IN" sz="1700" dirty="0">
                <a:solidFill>
                  <a:schemeClr val="dk1"/>
                </a:solidFill>
              </a:rPr>
              <a:t>Akshay </a:t>
            </a:r>
            <a:r>
              <a:rPr lang="en-IN" sz="1700" dirty="0" err="1">
                <a:solidFill>
                  <a:schemeClr val="dk1"/>
                </a:solidFill>
              </a:rPr>
              <a:t>Datir</a:t>
            </a:r>
            <a:endParaRPr lang="en-IN" sz="1700" dirty="0">
              <a:solidFill>
                <a:schemeClr val="dk1"/>
              </a:solidFill>
            </a:endParaRPr>
          </a:p>
        </p:txBody>
      </p:sp>
      <p:pic>
        <p:nvPicPr>
          <p:cNvPr id="6" name="Picture 2" descr="Profile photo of Akshay Datir">
            <a:extLst>
              <a:ext uri="{FF2B5EF4-FFF2-40B4-BE49-F238E27FC236}">
                <a16:creationId xmlns:a16="http://schemas.microsoft.com/office/drawing/2014/main" id="{346D5959-7C41-3A96-4BE3-272457F4DA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0" t="8382" r="6804" b="16748"/>
          <a:stretch/>
        </p:blipFill>
        <p:spPr bwMode="auto">
          <a:xfrm>
            <a:off x="1744631" y="236617"/>
            <a:ext cx="1833698" cy="182338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71;p14">
            <a:extLst>
              <a:ext uri="{FF2B5EF4-FFF2-40B4-BE49-F238E27FC236}">
                <a16:creationId xmlns:a16="http://schemas.microsoft.com/office/drawing/2014/main" id="{A8586792-D36B-30B6-0EC7-6475F086D739}"/>
              </a:ext>
            </a:extLst>
          </p:cNvPr>
          <p:cNvSpPr txBox="1">
            <a:spLocks/>
          </p:cNvSpPr>
          <p:nvPr/>
        </p:nvSpPr>
        <p:spPr>
          <a:xfrm>
            <a:off x="1587002" y="4343045"/>
            <a:ext cx="2176463" cy="43656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37160" indent="-137160" algn="l" defTabSz="685800" rtl="0" eaLnBrk="1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600"/>
              </a:spcAft>
              <a:buFont typeface="Garamond" pitchFamily="18" charset="0"/>
              <a:buNone/>
            </a:pPr>
            <a:r>
              <a:rPr lang="en-IN" sz="1700" dirty="0">
                <a:solidFill>
                  <a:schemeClr val="dk1"/>
                </a:solidFill>
              </a:rPr>
              <a:t>Anusha Poojary</a:t>
            </a:r>
          </a:p>
        </p:txBody>
      </p:sp>
      <p:pic>
        <p:nvPicPr>
          <p:cNvPr id="9" name="Picture 4" descr="Profile photo of Anusha Poojary">
            <a:extLst>
              <a:ext uri="{FF2B5EF4-FFF2-40B4-BE49-F238E27FC236}">
                <a16:creationId xmlns:a16="http://schemas.microsoft.com/office/drawing/2014/main" id="{AFE3134E-F271-E0A2-85D7-89F08DB79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718" y="2509347"/>
            <a:ext cx="1833698" cy="183369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252;p41">
            <a:extLst>
              <a:ext uri="{FF2B5EF4-FFF2-40B4-BE49-F238E27FC236}">
                <a16:creationId xmlns:a16="http://schemas.microsoft.com/office/drawing/2014/main" id="{9572A9D4-BB7E-119D-4306-687291790AF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2582619"/>
            <a:ext cx="4045200" cy="20409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>
              <a:buSzPts val="1600"/>
              <a:buChar char="➢"/>
            </a:pPr>
            <a:r>
              <a:rPr lang="en-IN" sz="1600" dirty="0">
                <a:solidFill>
                  <a:schemeClr val="tx1"/>
                </a:solidFill>
              </a:rPr>
              <a:t>Create Tables</a:t>
            </a:r>
            <a:endParaRPr lang="en-IN" sz="1100" dirty="0">
              <a:solidFill>
                <a:schemeClr val="tx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 dirty="0"/>
              <a:t>Sequences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 dirty="0"/>
              <a:t>Reports &amp; Views creation</a:t>
            </a:r>
            <a:endParaRPr sz="16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 dirty="0"/>
              <a:t>QA Testing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➢"/>
            </a:pPr>
            <a:r>
              <a:rPr lang="en" sz="1600" dirty="0"/>
              <a:t>PPT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>
            <a:spLocks noGrp="1"/>
          </p:cNvSpPr>
          <p:nvPr>
            <p:ph type="body" idx="2"/>
          </p:nvPr>
        </p:nvSpPr>
        <p:spPr>
          <a:xfrm>
            <a:off x="4572000" y="2508378"/>
            <a:ext cx="3837000" cy="22717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30200">
              <a:buSzPts val="1600"/>
              <a:buChar char="➢"/>
            </a:pPr>
            <a:r>
              <a:rPr lang="en-IN" sz="1600" dirty="0">
                <a:solidFill>
                  <a:schemeClr val="tx1"/>
                </a:solidFill>
              </a:rPr>
              <a:t>Data Flow Diagram</a:t>
            </a:r>
          </a:p>
          <a:p>
            <a:pPr indent="-330200">
              <a:buSzPts val="1600"/>
              <a:buFont typeface="Garamond" pitchFamily="18" charset="0"/>
              <a:buChar char="➢"/>
            </a:pPr>
            <a:r>
              <a:rPr lang="en-IN" sz="1600" dirty="0">
                <a:solidFill>
                  <a:schemeClr val="tx1"/>
                </a:solidFill>
              </a:rPr>
              <a:t>Create Tables</a:t>
            </a:r>
          </a:p>
          <a:p>
            <a:pPr lvl="0" indent="-330200">
              <a:buSzPts val="1600"/>
              <a:buChar char="➢"/>
            </a:pPr>
            <a:r>
              <a:rPr lang="en-IN" sz="1600" dirty="0">
                <a:solidFill>
                  <a:schemeClr val="tx1"/>
                </a:solidFill>
              </a:rPr>
              <a:t>QA Testing</a:t>
            </a:r>
          </a:p>
          <a:p>
            <a:pPr lvl="0" indent="-330200">
              <a:buSzPts val="1600"/>
              <a:buChar char="➢"/>
            </a:pPr>
            <a:r>
              <a:rPr lang="en-IN" sz="1600" dirty="0">
                <a:solidFill>
                  <a:schemeClr val="tx1"/>
                </a:solidFill>
              </a:rPr>
              <a:t>Reports &amp; Views creation</a:t>
            </a:r>
          </a:p>
          <a:p>
            <a:pPr lvl="0" indent="-330200">
              <a:buSzPts val="1600"/>
              <a:buChar char="➢"/>
            </a:pPr>
            <a:r>
              <a:rPr lang="en-IN" sz="1600" dirty="0">
                <a:solidFill>
                  <a:schemeClr val="tx1"/>
                </a:solidFill>
              </a:rPr>
              <a:t>Documentation</a:t>
            </a:r>
          </a:p>
          <a:p>
            <a:pPr lvl="0" indent="-330200">
              <a:buSzPts val="1600"/>
              <a:buChar char="➢"/>
            </a:pPr>
            <a:r>
              <a:rPr lang="en-IN" sz="1600" dirty="0">
                <a:solidFill>
                  <a:schemeClr val="tx1"/>
                </a:solidFill>
              </a:rPr>
              <a:t>PPT</a:t>
            </a:r>
          </a:p>
        </p:txBody>
      </p:sp>
      <p:sp>
        <p:nvSpPr>
          <p:cNvPr id="13" name="Google Shape;252;p41">
            <a:extLst>
              <a:ext uri="{FF2B5EF4-FFF2-40B4-BE49-F238E27FC236}">
                <a16:creationId xmlns:a16="http://schemas.microsoft.com/office/drawing/2014/main" id="{9572A9D4-BB7E-119D-4306-687291790AF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236617"/>
            <a:ext cx="4045200" cy="22717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>
              <a:buSzPts val="1600"/>
              <a:buChar char="➢"/>
            </a:pPr>
            <a:r>
              <a:rPr lang="en-IN" sz="1600" dirty="0">
                <a:solidFill>
                  <a:schemeClr val="tx1"/>
                </a:solidFill>
              </a:rPr>
              <a:t>Create Tables</a:t>
            </a:r>
            <a:endParaRPr lang="en-IN" sz="1100" dirty="0">
              <a:solidFill>
                <a:schemeClr val="tx1"/>
              </a:solidFill>
            </a:endParaRPr>
          </a:p>
          <a:p>
            <a:pPr marL="457200" lvl="0" indent="-330200" algn="l">
              <a:buSzPts val="1600"/>
              <a:buChar char="➢"/>
            </a:pPr>
            <a:r>
              <a:rPr lang="en-US" sz="1600" dirty="0"/>
              <a:t>Functions</a:t>
            </a:r>
          </a:p>
          <a:p>
            <a:pPr marL="457200" lvl="0" indent="-330200" algn="l">
              <a:buSzPts val="1600"/>
              <a:buChar char="➢"/>
            </a:pPr>
            <a:r>
              <a:rPr lang="en-US" sz="1600" dirty="0"/>
              <a:t>Triggers</a:t>
            </a:r>
          </a:p>
          <a:p>
            <a:pPr marL="457200" lvl="0" indent="-330200" algn="l">
              <a:buSzPts val="1600"/>
              <a:buChar char="➢"/>
            </a:pPr>
            <a:r>
              <a:rPr lang="en-US" sz="1600" dirty="0"/>
              <a:t>Reports &amp; Views creation</a:t>
            </a:r>
          </a:p>
          <a:p>
            <a:pPr marL="457200" lvl="0" indent="-330200" algn="l">
              <a:buSzPts val="1600"/>
              <a:buChar char="➢"/>
            </a:pPr>
            <a:r>
              <a:rPr lang="en-US" sz="1600" dirty="0"/>
              <a:t>QA Testing</a:t>
            </a:r>
            <a:endParaRPr lang="en-US" sz="1100" dirty="0"/>
          </a:p>
          <a:p>
            <a:pPr marL="457200" lvl="0" indent="-330200" algn="l">
              <a:buSzPts val="1600"/>
              <a:buChar char="➢"/>
            </a:pPr>
            <a:r>
              <a:rPr lang="en-US" sz="1600" dirty="0"/>
              <a:t>GIT Push Manager</a:t>
            </a:r>
          </a:p>
        </p:txBody>
      </p:sp>
      <p:sp>
        <p:nvSpPr>
          <p:cNvPr id="5" name="Google Shape;77;p14">
            <a:extLst>
              <a:ext uri="{FF2B5EF4-FFF2-40B4-BE49-F238E27FC236}">
                <a16:creationId xmlns:a16="http://schemas.microsoft.com/office/drawing/2014/main" id="{D667083B-6A2E-EFA7-876F-EAADB3D278E5}"/>
              </a:ext>
            </a:extLst>
          </p:cNvPr>
          <p:cNvSpPr txBox="1">
            <a:spLocks/>
          </p:cNvSpPr>
          <p:nvPr/>
        </p:nvSpPr>
        <p:spPr>
          <a:xfrm>
            <a:off x="1643336" y="2130954"/>
            <a:ext cx="2176462" cy="43656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37160" indent="-137160" algn="l" defTabSz="685800" rtl="0" eaLnBrk="1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600"/>
              </a:spcAft>
              <a:buFont typeface="Garamond" pitchFamily="18" charset="0"/>
              <a:buNone/>
            </a:pPr>
            <a:r>
              <a:rPr lang="en-IN" sz="1700" dirty="0">
                <a:solidFill>
                  <a:schemeClr val="dk1"/>
                </a:solidFill>
              </a:rPr>
              <a:t>Sahil Mutha</a:t>
            </a:r>
          </a:p>
        </p:txBody>
      </p:sp>
      <p:pic>
        <p:nvPicPr>
          <p:cNvPr id="8" name="Picture 6" descr="Profile photo of Sahil Mutha">
            <a:extLst>
              <a:ext uri="{FF2B5EF4-FFF2-40B4-BE49-F238E27FC236}">
                <a16:creationId xmlns:a16="http://schemas.microsoft.com/office/drawing/2014/main" id="{C88C0B1F-6059-0109-DDE1-ECDD5DF2D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560" y="236617"/>
            <a:ext cx="1897856" cy="189785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74;p14">
            <a:extLst>
              <a:ext uri="{FF2B5EF4-FFF2-40B4-BE49-F238E27FC236}">
                <a16:creationId xmlns:a16="http://schemas.microsoft.com/office/drawing/2014/main" id="{77DDF2B6-2823-6461-1BE2-E9851B5F7957}"/>
              </a:ext>
            </a:extLst>
          </p:cNvPr>
          <p:cNvSpPr txBox="1">
            <a:spLocks/>
          </p:cNvSpPr>
          <p:nvPr/>
        </p:nvSpPr>
        <p:spPr>
          <a:xfrm>
            <a:off x="1486164" y="4417818"/>
            <a:ext cx="2509525" cy="43656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37160" indent="-137160" algn="l" defTabSz="685800" rtl="0" eaLnBrk="1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1600"/>
              </a:spcAft>
              <a:buFont typeface="Garamond" pitchFamily="18" charset="0"/>
              <a:buNone/>
            </a:pPr>
            <a:r>
              <a:rPr lang="en-IN" sz="1700" dirty="0">
                <a:solidFill>
                  <a:schemeClr val="dk1"/>
                </a:solidFill>
              </a:rPr>
              <a:t>Ayush Yadav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B86CA0-9995-3D9A-DB4F-9CDA5122A3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812"/>
          <a:stretch/>
        </p:blipFill>
        <p:spPr>
          <a:xfrm>
            <a:off x="1791999" y="2563997"/>
            <a:ext cx="1897856" cy="189785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2568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189</TotalTime>
  <Words>1437</Words>
  <Application>Microsoft Office PowerPoint</Application>
  <PresentationFormat>On-screen Show (16:9)</PresentationFormat>
  <Paragraphs>157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Garamond</vt:lpstr>
      <vt:lpstr>Arial</vt:lpstr>
      <vt:lpstr>Century Gothic</vt:lpstr>
      <vt:lpstr>Savon</vt:lpstr>
      <vt:lpstr>Pharmacy Management System  Team 10</vt:lpstr>
      <vt:lpstr>PowerPoint Presentation</vt:lpstr>
      <vt:lpstr>PROBLEM STATEMENT</vt:lpstr>
      <vt:lpstr>OBJECTIVES</vt:lpstr>
      <vt:lpstr>SOLUTION</vt:lpstr>
      <vt:lpstr>ER Diagram</vt:lpstr>
      <vt:lpstr>PowerPoint Presentation</vt:lpstr>
      <vt:lpstr>Data Flow Diagram</vt:lpstr>
      <vt:lpstr>PowerPoint Presentation</vt:lpstr>
      <vt:lpstr>Views and Reports</vt:lpstr>
      <vt:lpstr>Low Inventory Drugs Status</vt:lpstr>
      <vt:lpstr>Top-5 Customers By Order Value</vt:lpstr>
      <vt:lpstr>Employee Duration and Salary</vt:lpstr>
      <vt:lpstr>Customers Ordering Maximum Times</vt:lpstr>
      <vt:lpstr>Top-performing Employees in Terms of Sales</vt:lpstr>
      <vt:lpstr>Users</vt:lpstr>
      <vt:lpstr>USER ROLES</vt:lpstr>
      <vt:lpstr>SECURITY AND PERMISSIONS</vt:lpstr>
      <vt:lpstr>Team Contribution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Management System</dc:title>
  <dc:creator>Ayush</dc:creator>
  <cp:lastModifiedBy>Ayush Yadav</cp:lastModifiedBy>
  <cp:revision>17</cp:revision>
  <dcterms:modified xsi:type="dcterms:W3CDTF">2026-02-01T17:52:22Z</dcterms:modified>
</cp:coreProperties>
</file>